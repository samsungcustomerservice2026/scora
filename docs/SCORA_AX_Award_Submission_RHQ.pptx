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24544" y="548640"/>
            <a:ext cx="7315" cy="3840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3396" y="50383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8941" y="106801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8941" y="16166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3396" y="214975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8941" y="271393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8941" y="326257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3396" y="379567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8941" y="43598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3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SAMSUNG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91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8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OVERVIEW  ·  SCOPE OF IMPLEMENTATION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43800" y="91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"/>
            <a:ext cx="8321040" cy="9144"/>
          </a:xfrm>
          <a:prstGeom prst="rect">
            <a:avLst/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— Service Competency &amp; Operational Readiness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" y="859536"/>
            <a:ext cx="71560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in-house platform that turns official service performance data into visible, self-service capability development for every colleague and every service partner.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 ·  AX Award Submission  ·  Samsung Electronics Egypt — Customer Service  ·  Confidential, internal use only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411480" y="131673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1554480"/>
            <a:ext cx="20117" cy="548640"/>
          </a:xfrm>
          <a:prstGeom prst="rect">
            <a:avLst/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1554480"/>
            <a:ext cx="3438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9496" y="1719072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Experience (MX)  ·  Digital Appliances (DA)  ·  Audio-Visual (AV)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11480" y="2194560"/>
            <a:ext cx="20117" cy="548640"/>
          </a:xfrm>
          <a:prstGeom prst="rect">
            <a:avLst/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194560"/>
            <a:ext cx="3438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9496" y="2359152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service engineers  ·  Front desk receptionists  ·  Galaxy Consultants  ·  Authorised service partners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20117" cy="548640"/>
          </a:xfrm>
          <a:prstGeom prst="rect">
            <a:avLst/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2834640"/>
            <a:ext cx="3438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9496" y="2999232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MX  ·  TCS DA  ·  TCS AV  ·  PQA MX Division  ·  PQA CE Division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4297680" y="1316736"/>
            <a:ext cx="4434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PORTALS  ·  THREE DIVISIONS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297680" y="1554480"/>
            <a:ext cx="2144268" cy="1188720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31" name="Image 0" descr="F:\Samsung Tools\TCS\TCS full project\fawzy-project\docs\assets\screens\01-portal-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112" y="1653955"/>
            <a:ext cx="2089404" cy="98977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6588252" y="1554480"/>
            <a:ext cx="2144268" cy="1188720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33" name="Image 1" descr="F:\Samsung Tools\TCS\TCS full project\fawzy-project\docs\assets\screens\02-division-sel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561" y="1581912"/>
            <a:ext cx="1987650" cy="113385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297680" y="2798064"/>
            <a:ext cx="21442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GATEWAY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297680" y="2962656"/>
            <a:ext cx="21442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portal for engineers, PQA portal for service centres.</a:t>
            </a:r>
            <a:endParaRPr lang="en-US" sz="730" dirty="0"/>
          </a:p>
        </p:txBody>
      </p:sp>
      <p:sp>
        <p:nvSpPr>
          <p:cNvPr id="36" name="Text 32"/>
          <p:cNvSpPr/>
          <p:nvPr/>
        </p:nvSpPr>
        <p:spPr>
          <a:xfrm>
            <a:off x="6588252" y="2798064"/>
            <a:ext cx="21442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DIVISION GATEWAY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6588252" y="2962656"/>
            <a:ext cx="21442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MX, DA and AV each with their own KPI model.</a:t>
            </a:r>
            <a:endParaRPr lang="en-US" sz="730" dirty="0"/>
          </a:p>
        </p:txBody>
      </p:sp>
      <p:sp>
        <p:nvSpPr>
          <p:cNvPr id="38" name="Text 34"/>
          <p:cNvSpPr/>
          <p:nvPr/>
        </p:nvSpPr>
        <p:spPr>
          <a:xfrm>
            <a:off x="411480" y="378561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PLATFORM TELEMETRY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411480" y="3986784"/>
            <a:ext cx="1576426" cy="71323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11480" y="3986784"/>
            <a:ext cx="1576426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02920" y="4105656"/>
            <a:ext cx="13935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502920" y="4425696"/>
            <a:ext cx="13935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" spc="7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RECORDS</a:t>
            </a:r>
            <a:endParaRPr lang="en-US" sz="660" dirty="0"/>
          </a:p>
        </p:txBody>
      </p:sp>
      <p:sp>
        <p:nvSpPr>
          <p:cNvPr id="43" name="Shape 39"/>
          <p:cNvSpPr/>
          <p:nvPr/>
        </p:nvSpPr>
        <p:spPr>
          <a:xfrm>
            <a:off x="2097634" y="3986784"/>
            <a:ext cx="1576426" cy="71323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097634" y="3986784"/>
            <a:ext cx="1576426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189074" y="4105656"/>
            <a:ext cx="13935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3,393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2189074" y="4425696"/>
            <a:ext cx="13935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" spc="7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VISITOR SESSIONS</a:t>
            </a:r>
            <a:endParaRPr lang="en-US" sz="660" dirty="0"/>
          </a:p>
        </p:txBody>
      </p:sp>
      <p:sp>
        <p:nvSpPr>
          <p:cNvPr id="47" name="Shape 43"/>
          <p:cNvSpPr/>
          <p:nvPr/>
        </p:nvSpPr>
        <p:spPr>
          <a:xfrm>
            <a:off x="3783787" y="3986784"/>
            <a:ext cx="1576426" cy="71323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783787" y="3986784"/>
            <a:ext cx="1576426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875227" y="4105656"/>
            <a:ext cx="13935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5,297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3875227" y="4425696"/>
            <a:ext cx="13935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" spc="7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INTERACTIONS</a:t>
            </a:r>
            <a:endParaRPr lang="en-US" sz="660" dirty="0"/>
          </a:p>
        </p:txBody>
      </p:sp>
      <p:sp>
        <p:nvSpPr>
          <p:cNvPr id="51" name="Shape 47"/>
          <p:cNvSpPr/>
          <p:nvPr/>
        </p:nvSpPr>
        <p:spPr>
          <a:xfrm>
            <a:off x="5469941" y="3986784"/>
            <a:ext cx="1576426" cy="71323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469941" y="3986784"/>
            <a:ext cx="1576426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561381" y="4105656"/>
            <a:ext cx="13935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56m 22s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5561381" y="4425696"/>
            <a:ext cx="13935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" spc="7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SESSION</a:t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7156094" y="3986784"/>
            <a:ext cx="1576426" cy="71323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7156094" y="3986784"/>
            <a:ext cx="1576426" cy="20117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7247534" y="4105656"/>
            <a:ext cx="139354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155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7247534" y="4425696"/>
            <a:ext cx="13935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" spc="7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LOGINS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24544" y="548640"/>
            <a:ext cx="7315" cy="3840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3396" y="50383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8941" y="106801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8941" y="16166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3396" y="214975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8941" y="271393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8941" y="326257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3396" y="379567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8941" y="43598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3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SAMSUNG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91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8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SITUATION  ·  IMPROVEMENT GOALS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43800" y="91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"/>
            <a:ext cx="8321040" cy="9144"/>
          </a:xfrm>
          <a:prstGeom prst="rect">
            <a:avLst/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cycle announcement to continuous, personal visibility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" y="859536"/>
            <a:ext cx="71560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evaluation and PQA programs already produce trusted results each cycle. The opportunity was to carry them the last mile — to each individual, with the KPI detail behind them.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 ·  AX Award Submission  ·  Samsung Electronics Egypt — Customer Service  ·  Confidential, internal use only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411480" y="131673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IMPROVEMENT GOALS  ·  KEY IMPROVEMENT ITEMS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1554480"/>
            <a:ext cx="4617720" cy="457200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" y="158191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4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" y="1581912"/>
            <a:ext cx="4032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result on demand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905256" y="1773936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score, full KPI breakdown and cycle history, per individual.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11480" y="2057400"/>
            <a:ext cx="461772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208483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4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5256" y="2084832"/>
            <a:ext cx="4032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standing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905256" y="2276856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tiers, Masters through Bronze, across the whole population.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11480" y="2560320"/>
            <a:ext cx="4617720" cy="457200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" y="258775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4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" y="2587752"/>
            <a:ext cx="4032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self-service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905256" y="2779776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PQA by partner and by branch, monthly and accumulated.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411480" y="3063240"/>
            <a:ext cx="461772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" y="309067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4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5256" y="3090672"/>
            <a:ext cx="4032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built in-house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905256" y="3282696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competency quiz plus a knowledge base with verified completion.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411480" y="3566160"/>
            <a:ext cx="4617720" cy="457200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" y="359359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4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05256" y="3593592"/>
            <a:ext cx="4032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standing channel for voice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905256" y="3785616"/>
            <a:ext cx="403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survey feeding the improvement backlog directly.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411480" y="4197096"/>
            <a:ext cx="4617720" cy="621792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4197096"/>
            <a:ext cx="274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" y="4242816"/>
            <a:ext cx="4361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spc="13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 MODEL HELD PER QUARTER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39496" y="4398264"/>
            <a:ext cx="4361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— SSR · RRR90 · IQC Skip · Core Parts · MPU · DRNPS · Exam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— LCD-OCTA · PBA · Multi Parts · RRR30 · Maintenance · OQC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21808" y="1316736"/>
            <a:ext cx="3410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 ·  ENGINEER DOSSIER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21808" y="1554480"/>
            <a:ext cx="3410712" cy="2359152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46" name="Image 0" descr="F:\Samsung Tools\TCS\TCS full project\fawzy-project\docs\assets\screens\05-kpi-doss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1581912"/>
            <a:ext cx="2880360" cy="2304288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5321808" y="4005072"/>
            <a:ext cx="34107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BY CODE — KPI SNAPSHOT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321808" y="416966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GSPN.AMR_OSAM20 · Khalafallah Electronics · engineer code 7886002511 · TCS Rank 109.9 · tier MASTERS · Q1 verified.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24544" y="548640"/>
            <a:ext cx="7315" cy="3840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3396" y="50383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8941" y="106801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8941" y="16166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3396" y="214975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8941" y="271393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8941" y="326257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3396" y="379567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8941" y="43598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3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SAMSUNG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91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8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BEFORE AND AFTER IMPROVEMENT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43800" y="91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"/>
            <a:ext cx="8321040" cy="9144"/>
          </a:xfrm>
          <a:prstGeom prst="rect">
            <a:avLst/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cycle is unchanged. The delivery layer is new.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" y="859536"/>
            <a:ext cx="71560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consumes the same official results, then extends how far they travel. Nothing in the established evaluation or PQA process was replaced.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 ·  AX Award Submission  ·  Samsung Electronics Egypt — Customer Service  ·  Confidential, internal use only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411480" y="1316736"/>
            <a:ext cx="3785616" cy="256032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1316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ESTABLISHED CYCLE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72584" y="1316736"/>
            <a:ext cx="3785616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316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EXTENDED WITH SCORA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1627632"/>
            <a:ext cx="3785616" cy="329184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16276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results compiled and announced each cycle.</a:t>
            </a:r>
            <a:endParaRPr lang="en-US" sz="790" dirty="0"/>
          </a:p>
        </p:txBody>
      </p:sp>
      <p:sp>
        <p:nvSpPr>
          <p:cNvPr id="25" name="Text 23"/>
          <p:cNvSpPr/>
          <p:nvPr/>
        </p:nvSpPr>
        <p:spPr>
          <a:xfrm>
            <a:off x="4251960" y="16276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4E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72584" y="1627632"/>
            <a:ext cx="3785616" cy="329184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16276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Unchanged — the same validated results feed the platform.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411480" y="1956816"/>
            <a:ext cx="3785616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19568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reaches the individual through announcement.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4251960" y="195681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4E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72584" y="1956816"/>
            <a:ext cx="3785616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19568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dossier on demand, with the full KPI breakdown.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411480" y="2286000"/>
            <a:ext cx="3785616" cy="329184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22860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performers recognised each cycle.</a:t>
            </a:r>
            <a:endParaRPr lang="en-US" sz="790" dirty="0"/>
          </a:p>
        </p:txBody>
      </p:sp>
      <p:sp>
        <p:nvSpPr>
          <p:cNvPr id="35" name="Text 33"/>
          <p:cNvSpPr/>
          <p:nvPr/>
        </p:nvSpPr>
        <p:spPr>
          <a:xfrm>
            <a:off x="4251960" y="228600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4E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72584" y="2286000"/>
            <a:ext cx="3785616" cy="329184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22860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tiers recognise the whole population, continuously.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411480" y="2615184"/>
            <a:ext cx="3785616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26151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meaning conveyed in briefings and training.</a:t>
            </a:r>
            <a:endParaRPr lang="en-US" sz="790" dirty="0"/>
          </a:p>
        </p:txBody>
      </p:sp>
      <p:sp>
        <p:nvSpPr>
          <p:cNvPr id="40" name="Text 38"/>
          <p:cNvSpPr/>
          <p:nvPr/>
        </p:nvSpPr>
        <p:spPr>
          <a:xfrm>
            <a:off x="4251960" y="261518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4E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72584" y="2615184"/>
            <a:ext cx="3785616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26151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Explained on demand by the assistant, linked to the knowledge item.</a:t>
            </a:r>
            <a:endParaRPr lang="en-US" sz="790" dirty="0"/>
          </a:p>
        </p:txBody>
      </p:sp>
      <p:sp>
        <p:nvSpPr>
          <p:cNvPr id="43" name="Shape 41"/>
          <p:cNvSpPr/>
          <p:nvPr/>
        </p:nvSpPr>
        <p:spPr>
          <a:xfrm>
            <a:off x="411480" y="2944368"/>
            <a:ext cx="3785616" cy="329184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" y="29443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PQA outcomes shared with partners each cycle.</a:t>
            </a:r>
            <a:endParaRPr lang="en-US" sz="790" dirty="0"/>
          </a:p>
        </p:txBody>
      </p:sp>
      <p:sp>
        <p:nvSpPr>
          <p:cNvPr id="45" name="Text 43"/>
          <p:cNvSpPr/>
          <p:nvPr/>
        </p:nvSpPr>
        <p:spPr>
          <a:xfrm>
            <a:off x="4251960" y="29443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4E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72584" y="2944368"/>
            <a:ext cx="3785616" cy="329184"/>
          </a:xfrm>
          <a:prstGeom prst="rect">
            <a:avLst/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82312" y="29443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partner and branch views, monthly and accumulated.</a:t>
            </a:r>
            <a:endParaRPr lang="en-US" sz="790" dirty="0"/>
          </a:p>
        </p:txBody>
      </p:sp>
      <p:sp>
        <p:nvSpPr>
          <p:cNvPr id="48" name="Shape 46"/>
          <p:cNvSpPr/>
          <p:nvPr/>
        </p:nvSpPr>
        <p:spPr>
          <a:xfrm>
            <a:off x="411480" y="3273552"/>
            <a:ext cx="3785616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32735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Reinforcement on an external quiz tool; participation recorded.</a:t>
            </a:r>
            <a:endParaRPr lang="en-US" sz="790" dirty="0"/>
          </a:p>
        </p:txBody>
      </p:sp>
      <p:sp>
        <p:nvSpPr>
          <p:cNvPr id="50" name="Text 48"/>
          <p:cNvSpPr/>
          <p:nvPr/>
        </p:nvSpPr>
        <p:spPr>
          <a:xfrm>
            <a:off x="4251960" y="327355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4E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72584" y="3273552"/>
            <a:ext cx="3785616" cy="329184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32735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In-house on SCORA Challenge; completion verified by presence, interaction and a closing quiz.</a:t>
            </a:r>
            <a:endParaRPr lang="en-US" sz="790" dirty="0"/>
          </a:p>
        </p:txBody>
      </p:sp>
      <p:sp>
        <p:nvSpPr>
          <p:cNvPr id="53" name="Shape 51"/>
          <p:cNvSpPr/>
          <p:nvPr/>
        </p:nvSpPr>
        <p:spPr>
          <a:xfrm>
            <a:off x="411480" y="3730752"/>
            <a:ext cx="2103120" cy="1005840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54" name="Image 0" descr="F:\Samsung Tools\TCS\TCS full project\fawzy-project\docs\assets\screens\04-admin-regi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3758184"/>
            <a:ext cx="1901952" cy="950976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2660904" y="37307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INGESTION POINT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2660904" y="3913632"/>
            <a:ext cx="6071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administrative surface holds all five environments — TCS MX, TCS DA, TCS AV, PQA MX and PQA CE — over 300 active records. Results are loaded and validated once per cycle, then read by every downstream view, so no figure is re-keyed and every view reconciles to the same source.</a:t>
            </a:r>
            <a:endParaRPr lang="en-US" sz="830" dirty="0"/>
          </a:p>
        </p:txBody>
      </p:sp>
      <p:sp>
        <p:nvSpPr>
          <p:cNvPr id="57" name="Text 54"/>
          <p:cNvSpPr/>
          <p:nvPr/>
        </p:nvSpPr>
        <p:spPr>
          <a:xfrm>
            <a:off x="2660904" y="4498848"/>
            <a:ext cx="6071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effect: the same trusted data now reaches every individual continuously instead of once per cycle, and arrives with the means to act on 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24544" y="548640"/>
            <a:ext cx="7315" cy="3840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3396" y="50383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8941" y="106801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8941" y="16166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3396" y="214975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8941" y="271393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8941" y="326257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3396" y="379567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8941" y="43598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3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SAMSUNG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91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8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FUNCTION DETAILS  ·  READ FROM LIVE DATA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43800" y="91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"/>
            <a:ext cx="8321040" cy="9144"/>
          </a:xfrm>
          <a:prstGeom prst="rect">
            <a:avLst/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functions, each already carrying real results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 ·  AX Award Submission  ·  Samsung Electronics Egypt — Customer Service  ·  Confidential, internal use only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411480" y="969264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 &amp; RECOGNITION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1152144"/>
            <a:ext cx="4041648" cy="1042416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20" name="Image 0" descr="F:\Samsung Tools\TCS\TCS full project\fawzy-project\docs\assets\screens\03-tcs-leader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333" y="1179576"/>
            <a:ext cx="1273942" cy="98755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11480" y="2249424"/>
            <a:ext cx="4041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ranking — six tiers, Masters to Bronze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2414016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 GSPN.HESHAM.KAMAL1 (Raya · Bani Swaif) · #2 GSPN.MOHAMED.GOMAAMTI2024 · #3 GSPN.ALIELSHERBINY (SKY · Damietta). Ranked continuously across MX, DA and AV.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4690872" y="969264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QUALITY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690872" y="1152144"/>
            <a:ext cx="4041648" cy="1042416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25" name="Image 1" descr="F:\Samsung Tools\TCS\TCS full project\fawzy-project\docs\assets\screens\07-pqa-accumul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293" y="1179576"/>
            <a:ext cx="1998805" cy="98755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690872" y="2249424"/>
            <a:ext cx="4041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PQA — partner and branch, self-service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690872" y="2414016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Accumulated 2026 year to date: Raya Mansoura 858.0 · Raya Cairo 853.8 · Tiba 843.2 · Electra Giza 840.2. Monthly and accumulated views on the same data.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411480" y="2880360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SCORA CHALLENGE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411480" y="3063240"/>
            <a:ext cx="4041648" cy="1042416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30" name="Image 2" descr="F:\Samsung Tools\TCS\TCS full project\fawzy-project\docs\assets\screens\09-challenge-re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669" y="3090672"/>
            <a:ext cx="1565270" cy="98755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11480" y="4160520"/>
            <a:ext cx="4041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Competency quiz delivered in-house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411480" y="4325112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report: 17 players · top score 5,459 · best question 88% · hardest 80%. Winners Sherif Ashraf 5,459 · Sara 4,944 · Enjy 4,813. Results retained internally.</a:t>
            </a:r>
            <a:endParaRPr lang="en-US" sz="730" dirty="0"/>
          </a:p>
        </p:txBody>
      </p:sp>
      <p:sp>
        <p:nvSpPr>
          <p:cNvPr id="33" name="Text 28"/>
          <p:cNvSpPr/>
          <p:nvPr/>
        </p:nvSpPr>
        <p:spPr>
          <a:xfrm>
            <a:off x="4690872" y="2880360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BASE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4690872" y="3063240"/>
            <a:ext cx="4041648" cy="1042416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35" name="Image 3" descr="F:\Samsung Tools\TCS\TCS full project\fawzy-project\docs\assets\screens\06-profile-knowle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343" y="3090672"/>
            <a:ext cx="2006706" cy="98755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690872" y="4160520"/>
            <a:ext cx="4041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completion verified, not assumed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4690872" y="4325112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Per-colleague pass state on mandatory items with a required reading time (5 min, 3 min) and a closing quiz. Presence, on-screen interaction and the quiz together prove completion.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24544" y="548640"/>
            <a:ext cx="7315" cy="3840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3396" y="50383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8941" y="106801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8941" y="16166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3396" y="214975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8941" y="271393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8941" y="326257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3396" y="3795674"/>
            <a:ext cx="89611" cy="89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8941" y="4359859"/>
            <a:ext cx="58522" cy="58522"/>
          </a:xfrm>
          <a:prstGeom prst="ellipse">
            <a:avLst/>
          </a:prstGeom>
          <a:solidFill>
            <a:srgbClr val="6A6A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3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SAMSUNG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91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80" kern="0" dirty="0">
                <a:solidFill>
                  <a:srgbClr val="9C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DATA UTILISATION  ·  RETURN  ·  EXPANSION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43800" y="91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4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"/>
            <a:ext cx="8321040" cy="9144"/>
          </a:xfrm>
          <a:prstGeom prst="rect">
            <a:avLst/>
          </a:prstGeom>
          <a:solidFill>
            <a:srgbClr val="4E4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and data utilisation, return, and where it goes next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11480" y="4846320"/>
            <a:ext cx="832104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A6A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 ·  AX Award Submission  ·  Samsung Electronics Egypt — Customer Service  ·  Confidential, internal use only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411480" y="96926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DATA UTILISATION PLAN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9768" y="1234440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8" y="1307592"/>
            <a:ext cx="7315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1188720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GoGo AI assistant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12648" y="1362456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7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Guides colleagues through the platform, explains what each KPI means, answers in English and Egyptian Arabic with neural voice, and alerts users when new technical content is published.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29768" y="1892808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8" y="1965960"/>
            <a:ext cx="7315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1847088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validated source, measured continuously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12648" y="2020824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7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results are ingested once per cycle and fanned out to individual, tier, partner and branch views. Engagement and completion telemetry then drives the roadmap: 5,297 interactions · 240 lab events.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429768" y="2551176"/>
            <a:ext cx="68580" cy="685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858" y="2624328"/>
            <a:ext cx="7315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2505456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12648" y="2679192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77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employee, evaluation or partner record is transmitted to an external AI provider in the current runtime configuration.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411480" y="3255264"/>
            <a:ext cx="4572000" cy="13716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3328416"/>
            <a:ext cx="43159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spc="13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 IMPACT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539496" y="3474720"/>
            <a:ext cx="4315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2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 now ask for the platform during onsite visits to Head Office; colleagues request extra sessions to raise their Challenge standing.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39496" y="3749040"/>
            <a:ext cx="43159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spc="13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ECONOMIC RETURN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539496" y="3895344"/>
            <a:ext cx="4315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2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external quiz licence, no vendor build, no translation cost — designed, built and operated by the same in-house team.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539496" y="4169664"/>
            <a:ext cx="43159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spc="13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EXPANSION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39496" y="4315968"/>
            <a:ext cx="4315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2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go-live on a Samsung-governed server; an approved generative API alongside GoGo, subject to RHQ review; configuration-driven reuse across subsidiaries.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257800" y="96926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MEASURED, NOT ASSERTED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257800" y="1188720"/>
            <a:ext cx="3474720" cy="1005840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40" name="Image 0" descr="F:\Samsung Tools\TCS\TCS full project\fawzy-project\docs\assets\screens\08-survey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772" y="1216152"/>
            <a:ext cx="1924775" cy="950976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257800" y="2249424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ACADEMY SURVEY — 79 RESPONSES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257800" y="241401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9.72 · 79% fully satisfied · Tanta 46, Assiut 31, Alexandria 2. Trainer 9.85 · content 9.81 · more sessions requested 9.92.</a:t>
            </a:r>
            <a:endParaRPr lang="en-US" sz="730" dirty="0"/>
          </a:p>
        </p:txBody>
      </p:sp>
      <p:sp>
        <p:nvSpPr>
          <p:cNvPr id="43" name="Shape 40"/>
          <p:cNvSpPr/>
          <p:nvPr/>
        </p:nvSpPr>
        <p:spPr>
          <a:xfrm>
            <a:off x="5257800" y="2944368"/>
            <a:ext cx="3474720" cy="1005840"/>
          </a:xfrm>
          <a:prstGeom prst="rect">
            <a:avLst/>
          </a:prstGeom>
          <a:solidFill>
            <a:srgbClr val="000000"/>
          </a:solidFill>
          <a:ln w="9525">
            <a:solidFill>
              <a:srgbClr val="333333"/>
            </a:solidFill>
            <a:prstDash val="solid"/>
          </a:ln>
        </p:spPr>
      </p:sp>
      <p:pic>
        <p:nvPicPr>
          <p:cNvPr id="44" name="Image 1" descr="F:\Samsung Tools\TCS\TCS full project\fawzy-project\docs\assets\screens\10-insights-stu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855" y="2971800"/>
            <a:ext cx="1714610" cy="95097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5257800" y="4005072"/>
            <a:ext cx="3474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STUDIO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5257800" y="41696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30" dirty="0">
                <a:solidFill>
                  <a:srgbClr val="9C9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Visitor and admin waves over 14 days, click depth and funnel completion — 3,393 sessions, 56m 22s average, 155 admin logins.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Samsung Electronics Egypt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SCORA — AX Award Submission (RHQ)</dc:title>
  <dc:subject>PptxGenJS Presentation</dc:subject>
  <dc:creator>Samsung Electronics Egypt — Customer Service</dc:creator>
  <cp:lastModifiedBy>Samsung Electronics Egypt — Customer Service</cp:lastModifiedBy>
  <cp:revision>1</cp:revision>
  <dcterms:created xsi:type="dcterms:W3CDTF">2026-09-14T21:04:37Z</dcterms:created>
  <dcterms:modified xsi:type="dcterms:W3CDTF">2026-09-14T21:04:37Z</dcterms:modified>
</cp:coreProperties>
</file>