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777240"/>
            <a:ext cx="7863840" cy="292608"/>
          </a:xfrm>
          <a:prstGeom prst="rect">
            <a:avLst/>
          </a:prstGeom>
          <a:noFill/>
          <a:ln/>
        </p:spPr>
        <p:txBody>
          <a:bodyPr wrap="square" rtlCol="0" anchor="ctr"/>
          <a:lstStyle/>
          <a:p>
            <a:pPr indent="0" marL="0">
              <a:buNone/>
            </a:pPr>
            <a:r>
              <a:rPr lang="en-US" sz="1100" spc="200" kern="0" dirty="0">
                <a:solidFill>
                  <a:srgbClr val="00A9E0"/>
                </a:solidFill>
                <a:latin typeface="Segoe UI" pitchFamily="34" charset="0"/>
                <a:ea typeface="Segoe UI" pitchFamily="34" charset="-122"/>
                <a:cs typeface="Segoe UI" pitchFamily="34" charset="-120"/>
              </a:rPr>
              <a:t>SAMSUNG ELECTRONICS EGYPT  ·  CUSTOMER SERVICE</a:t>
            </a:r>
            <a:endParaRPr lang="en-US" sz="1100" dirty="0"/>
          </a:p>
        </p:txBody>
      </p:sp>
      <p:sp>
        <p:nvSpPr>
          <p:cNvPr id="3" name="Text 1"/>
          <p:cNvSpPr/>
          <p:nvPr/>
        </p:nvSpPr>
        <p:spPr>
          <a:xfrm>
            <a:off x="640080" y="1371600"/>
            <a:ext cx="7863840" cy="1005840"/>
          </a:xfrm>
          <a:prstGeom prst="rect">
            <a:avLst/>
          </a:prstGeom>
          <a:noFill/>
          <a:ln/>
        </p:spPr>
        <p:txBody>
          <a:bodyPr wrap="square" rtlCol="0" anchor="ctr"/>
          <a:lstStyle/>
          <a:p>
            <a:pPr indent="0" marL="0">
              <a:buNone/>
            </a:pPr>
            <a:r>
              <a:rPr lang="en-US" sz="6000" b="1" dirty="0">
                <a:solidFill>
                  <a:srgbClr val="FFFFFF"/>
                </a:solidFill>
                <a:latin typeface="Segoe UI" pitchFamily="34" charset="0"/>
                <a:ea typeface="Segoe UI" pitchFamily="34" charset="-122"/>
                <a:cs typeface="Segoe UI" pitchFamily="34" charset="-120"/>
              </a:rPr>
              <a:t>SCORA</a:t>
            </a:r>
            <a:endParaRPr lang="en-US" sz="6000" dirty="0"/>
          </a:p>
        </p:txBody>
      </p:sp>
      <p:sp>
        <p:nvSpPr>
          <p:cNvPr id="4" name="Shape 2"/>
          <p:cNvSpPr/>
          <p:nvPr/>
        </p:nvSpPr>
        <p:spPr>
          <a:xfrm>
            <a:off x="658368" y="2395728"/>
            <a:ext cx="1097280" cy="50292"/>
          </a:xfrm>
          <a:prstGeom prst="rect">
            <a:avLst/>
          </a:prstGeom>
          <a:solidFill>
            <a:srgbClr val="00A9E0"/>
          </a:solidFill>
          <a:ln w="12700">
            <a:solidFill>
              <a:srgbClr val="333333"/>
            </a:solidFill>
            <a:prstDash val="solid"/>
          </a:ln>
        </p:spPr>
      </p:sp>
      <p:sp>
        <p:nvSpPr>
          <p:cNvPr id="5" name="Text 3"/>
          <p:cNvSpPr/>
          <p:nvPr/>
        </p:nvSpPr>
        <p:spPr>
          <a:xfrm>
            <a:off x="640080" y="2578608"/>
            <a:ext cx="7863840" cy="384048"/>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Service Competency &amp; Operational Readiness Application</a:t>
            </a:r>
            <a:endParaRPr lang="en-US" sz="1700" dirty="0"/>
          </a:p>
        </p:txBody>
      </p:sp>
      <p:sp>
        <p:nvSpPr>
          <p:cNvPr id="6" name="Text 4"/>
          <p:cNvSpPr/>
          <p:nvPr/>
        </p:nvSpPr>
        <p:spPr>
          <a:xfrm>
            <a:off x="640080" y="3035808"/>
            <a:ext cx="7863840" cy="640080"/>
          </a:xfrm>
          <a:prstGeom prst="rect">
            <a:avLst/>
          </a:prstGeom>
          <a:noFill/>
          <a:ln/>
        </p:spPr>
        <p:txBody>
          <a:bodyPr wrap="square" rtlCol="0" anchor="ctr"/>
          <a:lstStyle/>
          <a:p>
            <a:pPr indent="0" marL="0">
              <a:buNone/>
            </a:pPr>
            <a:r>
              <a:rPr lang="en-US" sz="1250" dirty="0">
                <a:solidFill>
                  <a:srgbClr val="B0BEC5"/>
                </a:solidFill>
                <a:latin typeface="Segoe UI" pitchFamily="34" charset="0"/>
                <a:ea typeface="Segoe UI" pitchFamily="34" charset="-122"/>
                <a:cs typeface="Segoe UI" pitchFamily="34" charset="-120"/>
              </a:rPr>
              <a:t>Converting engineer evaluation from a closed scoring exercise</a:t>
            </a:r>
            <a:endParaRPr lang="en-US" sz="1250" dirty="0"/>
          </a:p>
          <a:p>
            <a:pPr indent="0" marL="0">
              <a:buNone/>
            </a:pPr>
            <a:r>
              <a:rPr lang="en-US" sz="1250" dirty="0">
                <a:solidFill>
                  <a:srgbClr val="B0BEC5"/>
                </a:solidFill>
                <a:latin typeface="Segoe UI" pitchFamily="34" charset="0"/>
                <a:ea typeface="Segoe UI" pitchFamily="34" charset="-122"/>
                <a:cs typeface="Segoe UI" pitchFamily="34" charset="-120"/>
              </a:rPr>
              <a:t>into a transparent, self-service capability development platform.</a:t>
            </a:r>
            <a:endParaRPr lang="en-US" sz="1250" dirty="0"/>
          </a:p>
        </p:txBody>
      </p:sp>
      <p:sp>
        <p:nvSpPr>
          <p:cNvPr id="7" name="Text 5"/>
          <p:cNvSpPr/>
          <p:nvPr/>
        </p:nvSpPr>
        <p:spPr>
          <a:xfrm>
            <a:off x="640080" y="3931920"/>
            <a:ext cx="7863840" cy="274320"/>
          </a:xfrm>
          <a:prstGeom prst="rect">
            <a:avLst/>
          </a:prstGeom>
          <a:noFill/>
          <a:ln/>
        </p:spPr>
        <p:txBody>
          <a:bodyPr wrap="square" rtlCol="0" anchor="ctr"/>
          <a:lstStyle/>
          <a:p>
            <a:pPr indent="0" marL="0">
              <a:buNone/>
            </a:pPr>
            <a:r>
              <a:rPr lang="en-US" sz="1100" b="1" spc="150" kern="0" dirty="0">
                <a:solidFill>
                  <a:srgbClr val="FFFFFF"/>
                </a:solidFill>
                <a:latin typeface="Segoe UI" pitchFamily="34" charset="0"/>
                <a:ea typeface="Segoe UI" pitchFamily="34" charset="-122"/>
                <a:cs typeface="Segoe UI" pitchFamily="34" charset="-120"/>
              </a:rPr>
              <a:t>AI TRANSFORMATION (AX) AWARD SUBMISSION</a:t>
            </a:r>
            <a:endParaRPr lang="en-US" sz="1100" dirty="0"/>
          </a:p>
        </p:txBody>
      </p:sp>
      <p:sp>
        <p:nvSpPr>
          <p:cNvPr id="8" name="Text 6"/>
          <p:cNvSpPr/>
          <p:nvPr/>
        </p:nvSpPr>
        <p:spPr>
          <a:xfrm>
            <a:off x="640080" y="4224528"/>
            <a:ext cx="7863840" cy="274320"/>
          </a:xfrm>
          <a:prstGeom prst="rect">
            <a:avLst/>
          </a:prstGeom>
          <a:noFill/>
          <a:ln/>
        </p:spPr>
        <p:txBody>
          <a:bodyPr wrap="square" rtlCol="0" anchor="ctr"/>
          <a:lstStyle/>
          <a:p>
            <a:pPr indent="0" marL="0">
              <a:buNone/>
            </a:pPr>
            <a:r>
              <a:rPr lang="en-US" sz="1000" dirty="0">
                <a:solidFill>
                  <a:srgbClr val="78909C"/>
                </a:solidFill>
                <a:latin typeface="Segoe UI" pitchFamily="34" charset="0"/>
                <a:ea typeface="Segoe UI" pitchFamily="34" charset="-122"/>
                <a:cs typeface="Segoe UI" pitchFamily="34" charset="-120"/>
              </a:rPr>
              <a:t>Prepared for Regional Headquarters (RHQ) — Top Management Review   ·   2026-09-14</a:t>
            </a:r>
            <a:endParaRPr lang="en-US" sz="1000" dirty="0"/>
          </a:p>
        </p:txBody>
      </p:sp>
      <p:sp>
        <p:nvSpPr>
          <p:cNvPr id="9" name="Text 7"/>
          <p:cNvSpPr/>
          <p:nvPr/>
        </p:nvSpPr>
        <p:spPr>
          <a:xfrm>
            <a:off x="640080" y="4718304"/>
            <a:ext cx="7863840" cy="256032"/>
          </a:xfrm>
          <a:prstGeom prst="rect">
            <a:avLst/>
          </a:prstGeom>
          <a:noFill/>
          <a:ln/>
        </p:spPr>
        <p:txBody>
          <a:bodyPr wrap="square" rtlCol="0" anchor="ctr"/>
          <a:lstStyle/>
          <a:p>
            <a:pPr indent="0" marL="0">
              <a:buNone/>
            </a:pPr>
            <a:r>
              <a:rPr lang="en-US" sz="850" dirty="0">
                <a:solidFill>
                  <a:srgbClr val="546E7A"/>
                </a:solidFill>
                <a:latin typeface="Segoe UI" pitchFamily="34" charset="0"/>
                <a:ea typeface="Segoe UI" pitchFamily="34" charset="-122"/>
                <a:cs typeface="Segoe UI" pitchFamily="34" charset="-120"/>
              </a:rPr>
              <a:t>Confidential — Internal Use Only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AGENDA</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Contents</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1737360"/>
                <a:gridCol w="5120640"/>
                <a:gridCol w="1645920"/>
              </a:tblGrid>
              <a:tr h="0">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Section</a:t>
                      </a:r>
                      <a:endParaRPr lang="en-US" sz="12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Content</a:t>
                      </a:r>
                      <a:endParaRPr lang="en-US" sz="12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200" b="1" dirty="0">
                          <a:solidFill>
                            <a:srgbClr val="FFFFFF"/>
                          </a:solidFill>
                          <a:latin typeface="Segoe UI" pitchFamily="34" charset="0"/>
                          <a:ea typeface="Segoe UI" pitchFamily="34" charset="-122"/>
                          <a:cs typeface="Segoe UI" pitchFamily="34" charset="-120"/>
                        </a:rPr>
                        <a:t>Slides</a:t>
                      </a:r>
                      <a:endParaRPr lang="en-US" sz="12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Executive summary</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The gap, the solution, and why this is an AX best practice</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3 – 4</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1</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Current situation and problem definition</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5 – 8</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2</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Improvement goals and key improvement items</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9 – 12</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3</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Workflow before and after improvement</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13 – 15</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4</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Scope of implementation and key function details</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16 – 20</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5</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AI and data utilisation plan</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21 – 28</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6</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Business impact and return on investment</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29 – 32</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Appendix</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Data to confirm before final submission</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50" dirty="0">
                          <a:solidFill>
                            <a:srgbClr val="1A1A1A"/>
                          </a:solidFill>
                          <a:latin typeface="Segoe UI" pitchFamily="34" charset="0"/>
                          <a:ea typeface="Segoe UI" pitchFamily="34" charset="-122"/>
                          <a:cs typeface="Segoe UI" pitchFamily="34" charset="-120"/>
                        </a:rPr>
                        <a:t>33</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3</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EXECUTIVE SUMMARY</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The gap we closed</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sp>
        <p:nvSpPr>
          <p:cNvPr id="8" name="Shape 6"/>
          <p:cNvSpPr/>
          <p:nvPr/>
        </p:nvSpPr>
        <p:spPr>
          <a:xfrm>
            <a:off x="320040" y="1417320"/>
            <a:ext cx="8503920" cy="1481328"/>
          </a:xfrm>
          <a:prstGeom prst="rect">
            <a:avLst/>
          </a:prstGeom>
          <a:solidFill>
            <a:srgbClr val="F2F5FA"/>
          </a:solidFill>
          <a:ln w="9525">
            <a:solidFill>
              <a:srgbClr val="1428A0"/>
            </a:solidFill>
            <a:prstDash val="solid"/>
          </a:ln>
        </p:spPr>
      </p:sp>
      <p:sp>
        <p:nvSpPr>
          <p:cNvPr id="9" name="Shape 7"/>
          <p:cNvSpPr/>
          <p:nvPr/>
        </p:nvSpPr>
        <p:spPr>
          <a:xfrm>
            <a:off x="320040" y="1417320"/>
            <a:ext cx="68580" cy="1481328"/>
          </a:xfrm>
          <a:prstGeom prst="rect">
            <a:avLst/>
          </a:prstGeom>
          <a:solidFill>
            <a:srgbClr val="1428A0"/>
          </a:solidFill>
          <a:ln w="12700">
            <a:solidFill>
              <a:srgbClr val="333333"/>
            </a:solidFill>
            <a:prstDash val="solid"/>
          </a:ln>
        </p:spPr>
      </p:sp>
      <p:sp>
        <p:nvSpPr>
          <p:cNvPr id="10" name="Text 8"/>
          <p:cNvSpPr/>
          <p:nvPr/>
        </p:nvSpPr>
        <p:spPr>
          <a:xfrm>
            <a:off x="566928" y="1536192"/>
            <a:ext cx="8092440" cy="1243584"/>
          </a:xfrm>
          <a:prstGeom prst="rect">
            <a:avLst/>
          </a:prstGeom>
          <a:noFill/>
          <a:ln/>
        </p:spPr>
        <p:txBody>
          <a:bodyPr wrap="square" rtlCol="0" anchor="ctr"/>
          <a:lstStyle/>
          <a:p>
            <a:pPr indent="0" marL="0">
              <a:buNone/>
            </a:pPr>
            <a:r>
              <a:rPr lang="en-US" sz="1500" b="1" dirty="0">
                <a:solidFill>
                  <a:srgbClr val="0B1F3A"/>
                </a:solidFill>
                <a:latin typeface="Segoe UI" pitchFamily="34" charset="0"/>
                <a:ea typeface="Segoe UI" pitchFamily="34" charset="-122"/>
                <a:cs typeface="Segoe UI" pitchFamily="34" charset="-120"/>
              </a:rPr>
              <a:t>Engineers are evaluated but are not informed of their own evaluation results. Without visibility of their score, their ranking, or the specific KPI that caused the shortfall, engineers cannot self-correct — and the organisation cannot convert evaluation data into capability improvement.</a:t>
            </a:r>
            <a:endParaRPr lang="en-US" sz="1500" dirty="0"/>
          </a:p>
        </p:txBody>
      </p:sp>
      <p:sp>
        <p:nvSpPr>
          <p:cNvPr id="11" name="Text 9"/>
          <p:cNvSpPr/>
          <p:nvPr/>
        </p:nvSpPr>
        <p:spPr>
          <a:xfrm>
            <a:off x="502920" y="3127248"/>
            <a:ext cx="8138160" cy="1463040"/>
          </a:xfrm>
          <a:prstGeom prst="rect">
            <a:avLst/>
          </a:prstGeom>
          <a:noFill/>
          <a:ln/>
        </p:spPr>
        <p:txBody>
          <a:bodyPr wrap="square" rtlCol="0" anchor="t"/>
          <a:lstStyle/>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The measurement model is mature. The feedback loop is not.</a:t>
            </a:r>
            <a:endParaRPr lang="en-US" sz="1250" dirty="0"/>
          </a:p>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Evaluation therefore acts as a control instrument, not an improvement instrument: it tells management who is performing, but not the engineer how to improve.</a:t>
            </a:r>
            <a:endParaRPr lang="en-US" sz="1250" dirty="0"/>
          </a:p>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SCORA discloses each engineer’s result to that engineer, isolates the KPI that drove it, and routes the gap directly to the knowledge required to close 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4</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EXECUTIVE SUMMARY</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Why this qualifies as an AX best practice</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sp>
        <p:nvSpPr>
          <p:cNvPr id="8" name="Text 6"/>
          <p:cNvSpPr/>
          <p:nvPr/>
        </p:nvSpPr>
        <p:spPr>
          <a:xfrm>
            <a:off x="502920" y="1243584"/>
            <a:ext cx="8138160" cy="3017520"/>
          </a:xfrm>
          <a:prstGeom prst="rect">
            <a:avLst/>
          </a:prstGeom>
          <a:noFill/>
          <a:ln/>
        </p:spPr>
        <p:txBody>
          <a:bodyPr wrap="square" rtlCol="0" anchor="t"/>
          <a:lstStyle/>
          <a:p>
            <a:pPr marL="228600" indent="-228600">
              <a:spcAft>
                <a:spcPts val="700"/>
              </a:spcAft>
              <a:buSzPct val="100000"/>
              <a:buChar char="•"/>
            </a:pPr>
            <a:r>
              <a:rPr lang="en-US" sz="1300" b="1" dirty="0">
                <a:solidFill>
                  <a:srgbClr val="1A1A1A"/>
                </a:solidFill>
                <a:latin typeface="Segoe UI" pitchFamily="34" charset="0"/>
                <a:ea typeface="Segoe UI" pitchFamily="34" charset="-122"/>
                <a:cs typeface="Segoe UI" pitchFamily="34" charset="-120"/>
              </a:rPr>
              <a:t>AI was the delivery engine, not a feature label.</a:t>
            </a:r>
            <a:endParaRPr lang="en-US" sz="1300" dirty="0"/>
          </a:p>
          <a:p>
            <a:pPr lvl="1" marL="457200" indent="-228600">
              <a:spcAft>
                <a:spcPts val="700"/>
              </a:spcAft>
              <a:buSzPct val="100000"/>
              <a:buChar char="•"/>
            </a:pPr>
            <a:r>
              <a:rPr lang="en-US" sz="1150" dirty="0">
                <a:solidFill>
                  <a:srgbClr val="5A6472"/>
                </a:solidFill>
                <a:latin typeface="Segoe UI" pitchFamily="34" charset="0"/>
                <a:ea typeface="Segoe UI" pitchFamily="34" charset="-122"/>
                <a:cs typeface="Segoe UI" pitchFamily="34" charset="-120"/>
              </a:rPr>
              <a:t>The application was authored end-to-end through Samsung-approved AI assistants (Claude, ChatGPT, Gemini). That is what made this scope achievable by one owner in seven months.</a:t>
            </a:r>
            <a:endParaRPr lang="en-US" sz="1300" dirty="0"/>
          </a:p>
          <a:p>
            <a:pPr marL="228600" indent="-228600">
              <a:spcAft>
                <a:spcPts val="700"/>
              </a:spcAft>
              <a:buSzPct val="100000"/>
              <a:buChar char="•"/>
            </a:pPr>
            <a:r>
              <a:rPr lang="en-US" sz="1300" b="1" dirty="0">
                <a:solidFill>
                  <a:srgbClr val="1A1A1A"/>
                </a:solidFill>
                <a:latin typeface="Segoe UI" pitchFamily="34" charset="0"/>
                <a:ea typeface="Segoe UI" pitchFamily="34" charset="-122"/>
                <a:cs typeface="Segoe UI" pitchFamily="34" charset="-120"/>
              </a:rPr>
              <a:t>It resolves a genuine operational gap, not a demonstration.</a:t>
            </a:r>
            <a:endParaRPr lang="en-US" sz="1300" dirty="0"/>
          </a:p>
          <a:p>
            <a:pPr lvl="1" marL="457200" indent="-228600">
              <a:spcAft>
                <a:spcPts val="700"/>
              </a:spcAft>
              <a:buSzPct val="100000"/>
              <a:buChar char="•"/>
            </a:pPr>
            <a:r>
              <a:rPr lang="en-US" sz="1150" dirty="0">
                <a:solidFill>
                  <a:srgbClr val="5A6472"/>
                </a:solidFill>
                <a:latin typeface="Segoe UI" pitchFamily="34" charset="0"/>
                <a:ea typeface="Segoe UI" pitchFamily="34" charset="-122"/>
                <a:cs typeface="Segoe UI" pitchFamily="34" charset="-120"/>
              </a:rPr>
              <a:t>The absence of an engineer-level feedback loop was a real, measurable service problem.</a:t>
            </a:r>
            <a:endParaRPr lang="en-US" sz="1300" dirty="0"/>
          </a:p>
          <a:p>
            <a:pPr marL="228600" indent="-228600">
              <a:spcAft>
                <a:spcPts val="700"/>
              </a:spcAft>
              <a:buSzPct val="100000"/>
              <a:buChar char="•"/>
            </a:pPr>
            <a:r>
              <a:rPr lang="en-US" sz="1300" b="1" dirty="0">
                <a:solidFill>
                  <a:srgbClr val="1A1A1A"/>
                </a:solidFill>
                <a:latin typeface="Segoe UI" pitchFamily="34" charset="0"/>
                <a:ea typeface="Segoe UI" pitchFamily="34" charset="-122"/>
                <a:cs typeface="Segoe UI" pitchFamily="34" charset="-120"/>
              </a:rPr>
              <a:t>It is compliant by architecture.</a:t>
            </a:r>
            <a:endParaRPr lang="en-US" sz="1300" dirty="0"/>
          </a:p>
          <a:p>
            <a:pPr lvl="1" marL="457200" indent="-228600">
              <a:spcAft>
                <a:spcPts val="700"/>
              </a:spcAft>
              <a:buSzPct val="100000"/>
              <a:buChar char="•"/>
            </a:pPr>
            <a:r>
              <a:rPr lang="en-US" sz="1150" dirty="0">
                <a:solidFill>
                  <a:srgbClr val="5A6472"/>
                </a:solidFill>
                <a:latin typeface="Segoe UI" pitchFamily="34" charset="0"/>
                <a:ea typeface="Segoe UI" pitchFamily="34" charset="-122"/>
                <a:cs typeface="Segoe UI" pitchFamily="34" charset="-120"/>
              </a:rPr>
              <a:t>No employee or customer data is transmitted to any external AI model at runtime; runtime intelligence is deterministic and fully auditable.</a:t>
            </a:r>
            <a:endParaRPr lang="en-US" sz="1300" dirty="0"/>
          </a:p>
          <a:p>
            <a:pPr marL="228600" indent="-228600">
              <a:spcAft>
                <a:spcPts val="700"/>
              </a:spcAft>
              <a:buSzPct val="100000"/>
              <a:buChar char="•"/>
            </a:pPr>
            <a:r>
              <a:rPr lang="en-US" sz="1300" b="1" dirty="0">
                <a:solidFill>
                  <a:srgbClr val="1A1A1A"/>
                </a:solidFill>
                <a:latin typeface="Segoe UI" pitchFamily="34" charset="0"/>
                <a:ea typeface="Segoe UI" pitchFamily="34" charset="-122"/>
                <a:cs typeface="Segoe UI" pitchFamily="34" charset="-120"/>
              </a:rPr>
              <a:t>It is replicable across the region.</a:t>
            </a:r>
            <a:endParaRPr lang="en-US" sz="1300" dirty="0"/>
          </a:p>
          <a:p>
            <a:pPr lvl="1" marL="457200" indent="-228600">
              <a:spcAft>
                <a:spcPts val="700"/>
              </a:spcAft>
              <a:buSzPct val="100000"/>
              <a:buChar char="•"/>
            </a:pPr>
            <a:r>
              <a:rPr lang="en-US" sz="1150" dirty="0">
                <a:solidFill>
                  <a:srgbClr val="5A6472"/>
                </a:solidFill>
                <a:latin typeface="Segoe UI" pitchFamily="34" charset="0"/>
                <a:ea typeface="Segoe UI" pitchFamily="34" charset="-122"/>
                <a:cs typeface="Segoe UI" pitchFamily="34" charset="-120"/>
              </a:rPr>
              <a:t>Division and role models are configuration-driven, so extension requires no redevelopment.</a:t>
            </a:r>
            <a:endParaRPr lang="en-US" sz="1300" dirty="0"/>
          </a:p>
          <a:p>
            <a:pPr marL="228600" indent="-228600">
              <a:spcAft>
                <a:spcPts val="700"/>
              </a:spcAft>
              <a:buSzPct val="100000"/>
              <a:buChar char="•"/>
            </a:pPr>
            <a:r>
              <a:rPr lang="en-US" sz="1300" b="1" dirty="0">
                <a:solidFill>
                  <a:srgbClr val="1A1A1A"/>
                </a:solidFill>
                <a:latin typeface="Segoe UI" pitchFamily="34" charset="0"/>
                <a:ea typeface="Segoe UI" pitchFamily="34" charset="-122"/>
                <a:cs typeface="Segoe UI" pitchFamily="34" charset="-120"/>
              </a:rPr>
              <a:t>Return on investment is structural.</a:t>
            </a:r>
            <a:endParaRPr lang="en-US" sz="1300" dirty="0"/>
          </a:p>
          <a:p>
            <a:pPr lvl="1" marL="457200" indent="-228600">
              <a:spcAft>
                <a:spcPts val="700"/>
              </a:spcAft>
              <a:buSzPct val="100000"/>
              <a:buChar char="•"/>
            </a:pPr>
            <a:r>
              <a:rPr lang="en-US" sz="1150" dirty="0">
                <a:solidFill>
                  <a:srgbClr val="5A6472"/>
                </a:solidFill>
                <a:latin typeface="Segoe UI" pitchFamily="34" charset="0"/>
                <a:ea typeface="Segoe UI" pitchFamily="34" charset="-122"/>
                <a:cs typeface="Segoe UI" pitchFamily="34" charset="-120"/>
              </a:rPr>
              <a:t>No licence cost, no vendor cost, and a permanent reduction in manual reporting effort.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1828800"/>
            <a:ext cx="1005840" cy="45720"/>
          </a:xfrm>
          <a:prstGeom prst="rect">
            <a:avLst/>
          </a:prstGeom>
          <a:solidFill>
            <a:srgbClr val="00A9E0"/>
          </a:solidFill>
          <a:ln w="12700">
            <a:solidFill>
              <a:srgbClr val="333333"/>
            </a:solidFill>
            <a:prstDash val="solid"/>
          </a:ln>
        </p:spPr>
      </p:sp>
      <p:sp>
        <p:nvSpPr>
          <p:cNvPr id="3" name="Text 1"/>
          <p:cNvSpPr/>
          <p:nvPr/>
        </p:nvSpPr>
        <p:spPr>
          <a:xfrm>
            <a:off x="640080" y="1207008"/>
            <a:ext cx="2743200" cy="457200"/>
          </a:xfrm>
          <a:prstGeom prst="rect">
            <a:avLst/>
          </a:prstGeom>
          <a:noFill/>
          <a:ln/>
        </p:spPr>
        <p:txBody>
          <a:bodyPr wrap="square" rtlCol="0" anchor="ctr"/>
          <a:lstStyle/>
          <a:p>
            <a:pPr indent="0" marL="0">
              <a:buNone/>
            </a:pPr>
            <a:r>
              <a:rPr lang="en-US" sz="1300" b="1" spc="200" kern="0" dirty="0">
                <a:solidFill>
                  <a:srgbClr val="00A9E0"/>
                </a:solidFill>
                <a:latin typeface="Segoe UI" pitchFamily="34" charset="0"/>
                <a:ea typeface="Segoe UI" pitchFamily="34" charset="-122"/>
                <a:cs typeface="Segoe UI" pitchFamily="34" charset="-120"/>
              </a:rPr>
              <a:t>SECTION 1</a:t>
            </a:r>
            <a:endParaRPr lang="en-US" sz="1300" dirty="0"/>
          </a:p>
        </p:txBody>
      </p:sp>
      <p:sp>
        <p:nvSpPr>
          <p:cNvPr id="4" name="Text 2"/>
          <p:cNvSpPr/>
          <p:nvPr/>
        </p:nvSpPr>
        <p:spPr>
          <a:xfrm>
            <a:off x="640080" y="2011680"/>
            <a:ext cx="7772400" cy="8229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Current Situation and</a:t>
            </a:r>
            <a:endParaRPr lang="en-US" sz="3200" dirty="0"/>
          </a:p>
          <a:p>
            <a:pPr indent="0" marL="0">
              <a:buNone/>
            </a:pPr>
            <a:r>
              <a:rPr lang="en-US" sz="3200" b="1" dirty="0">
                <a:solidFill>
                  <a:srgbClr val="FFFFFF"/>
                </a:solidFill>
                <a:latin typeface="Segoe UI" pitchFamily="34" charset="0"/>
                <a:ea typeface="Segoe UI" pitchFamily="34" charset="-122"/>
                <a:cs typeface="Segoe UI" pitchFamily="34" charset="-120"/>
              </a:rPr>
              <a:t>Problem Definition</a:t>
            </a:r>
            <a:endParaRPr lang="en-US" sz="3200" dirty="0"/>
          </a:p>
        </p:txBody>
      </p:sp>
      <p:sp>
        <p:nvSpPr>
          <p:cNvPr id="5" name="Text 3"/>
          <p:cNvSpPr/>
          <p:nvPr/>
        </p:nvSpPr>
        <p:spPr>
          <a:xfrm>
            <a:off x="640080" y="2926080"/>
            <a:ext cx="7315200" cy="731520"/>
          </a:xfrm>
          <a:prstGeom prst="rect">
            <a:avLst/>
          </a:prstGeom>
          <a:noFill/>
          <a:ln/>
        </p:spPr>
        <p:txBody>
          <a:bodyPr wrap="square" rtlCol="0" anchor="ctr"/>
          <a:lstStyle/>
          <a:p>
            <a:pPr indent="0" marL="0">
              <a:buNone/>
            </a:pPr>
            <a:r>
              <a:rPr lang="en-US" sz="1300" dirty="0">
                <a:solidFill>
                  <a:srgbClr val="B0BEC5"/>
                </a:solidFill>
                <a:latin typeface="Segoe UI" pitchFamily="34" charset="0"/>
                <a:ea typeface="Segoe UI" pitchFamily="34" charset="-122"/>
                <a:cs typeface="Segoe UI" pitchFamily="34" charset="-120"/>
              </a:rPr>
              <a:t>Measurement was never the deficiency. Measurement terminated at management level and never returned to the engineer.</a:t>
            </a:r>
            <a:endParaRPr lang="en-US" sz="1300" dirty="0"/>
          </a:p>
        </p:txBody>
      </p:sp>
      <p:sp>
        <p:nvSpPr>
          <p:cNvPr id="6" name="Text 4"/>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78909C"/>
                </a:solidFill>
                <a:latin typeface="Segoe UI" pitchFamily="34" charset="0"/>
                <a:ea typeface="Segoe UI" pitchFamily="34" charset="-122"/>
                <a:cs typeface="Segoe UI" pitchFamily="34" charset="-120"/>
              </a:rPr>
              <a:t>Confidential — Internal Use Only   |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6</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1. CURRENT SITUATION</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Where we started</a:t>
            </a:r>
            <a:endParaRPr lang="en-US" sz="2400" dirty="0"/>
          </a:p>
        </p:txBody>
      </p:sp>
      <p:sp>
        <p:nvSpPr>
          <p:cNvPr id="7" name="Text 5"/>
          <p:cNvSpPr/>
          <p:nvPr/>
        </p:nvSpPr>
        <p:spPr>
          <a:xfrm>
            <a:off x="320040" y="969264"/>
            <a:ext cx="8412480" cy="310896"/>
          </a:xfrm>
          <a:prstGeom prst="rect">
            <a:avLst/>
          </a:prstGeom>
          <a:noFill/>
          <a:ln/>
        </p:spPr>
        <p:txBody>
          <a:bodyPr wrap="square" rtlCol="0" anchor="ctr"/>
          <a:lstStyle/>
          <a:p>
            <a:pPr indent="0" marL="0">
              <a:buNone/>
            </a:pPr>
            <a:r>
              <a:rPr lang="en-US" sz="1200" i="1" dirty="0">
                <a:solidFill>
                  <a:srgbClr val="5A6472"/>
                </a:solidFill>
                <a:latin typeface="Segoe UI" pitchFamily="34" charset="0"/>
                <a:ea typeface="Segoe UI" pitchFamily="34" charset="-122"/>
                <a:cs typeface="Segoe UI" pitchFamily="34" charset="-120"/>
              </a:rPr>
              <a:t>Engineer capability is the largest controllable driver of service quality, repeat repair and customer satisfaction.</a:t>
            </a:r>
            <a:endParaRPr lang="en-US" sz="1200" dirty="0"/>
          </a:p>
        </p:txBody>
      </p:sp>
      <p:sp>
        <p:nvSpPr>
          <p:cNvPr id="8" name="Shape 6"/>
          <p:cNvSpPr/>
          <p:nvPr/>
        </p:nvSpPr>
        <p:spPr>
          <a:xfrm>
            <a:off x="320040" y="1316736"/>
            <a:ext cx="822960" cy="41148"/>
          </a:xfrm>
          <a:prstGeom prst="rect">
            <a:avLst/>
          </a:prstGeom>
          <a:solidFill>
            <a:srgbClr val="00A9E0"/>
          </a:solidFill>
          <a:ln w="12700">
            <a:solidFill>
              <a:srgbClr val="333333"/>
            </a:solidFill>
            <a:prstDash val="solid"/>
          </a:ln>
        </p:spPr>
      </p:sp>
      <p:sp>
        <p:nvSpPr>
          <p:cNvPr id="9" name="Text 7"/>
          <p:cNvSpPr/>
          <p:nvPr/>
        </p:nvSpPr>
        <p:spPr>
          <a:xfrm>
            <a:off x="502920" y="1536192"/>
            <a:ext cx="8138160" cy="2651760"/>
          </a:xfrm>
          <a:prstGeom prst="rect">
            <a:avLst/>
          </a:prstGeom>
          <a:noFill/>
          <a:ln/>
        </p:spPr>
        <p:txBody>
          <a:bodyPr wrap="square" rtlCol="0" anchor="t"/>
          <a:lstStyle/>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Samsung Electronics Egypt already operates a structured engineer evaluation model based on defined service KPIs.</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KPI data is consolidated periodically from operational systems into evaluation workbooks.</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Scores, rankings and tiers were prepared manually in spreadsheets.</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Results were reported upward to management — and stopped there.</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The individual engineer received no structured view of his own outcome.</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Evaluation and training operated as two unrelated processes.</a:t>
            </a:r>
            <a:endParaRPr lang="en-US" sz="1300" dirty="0"/>
          </a:p>
        </p:txBody>
      </p:sp>
      <p:sp>
        <p:nvSpPr>
          <p:cNvPr id="10" name="Text 8"/>
          <p:cNvSpPr/>
          <p:nvPr/>
        </p:nvSpPr>
        <p:spPr>
          <a:xfrm>
            <a:off x="502920" y="4224528"/>
            <a:ext cx="8138160" cy="411480"/>
          </a:xfrm>
          <a:prstGeom prst="rect">
            <a:avLst/>
          </a:prstGeom>
          <a:noFill/>
          <a:ln/>
        </p:spPr>
        <p:txBody>
          <a:bodyPr wrap="square" rtlCol="0" anchor="ctr"/>
          <a:lstStyle/>
          <a:p>
            <a:pPr indent="0" marL="0">
              <a:buNone/>
            </a:pPr>
            <a:r>
              <a:rPr lang="en-US" sz="950" i="1" dirty="0">
                <a:solidFill>
                  <a:srgbClr val="B32017"/>
                </a:solidFill>
                <a:latin typeface="Segoe UI" pitchFamily="34" charset="0"/>
                <a:ea typeface="Segoe UI" pitchFamily="34" charset="-122"/>
                <a:cs typeface="Segoe UI" pitchFamily="34" charset="-120"/>
              </a:rPr>
              <a:t>DATA TO CONFIRM: total engineers under evaluation; number of service centres and partners covered.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7</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1. CURRENT SITUATION</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Structural weaknesses identified</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548640"/>
                <a:gridCol w="4160520"/>
                <a:gridCol w="3794760"/>
              </a:tblGrid>
              <a:tr h="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Weakness in the pre-improvement state</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Operational consequence</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W1</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 result feedback to the engineer.</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Evaluation produces no behavioural change.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W2</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 KPI-level diagnosis of the shortfall.</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Improvement effort is unfocused.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W3</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 link between evaluation and learning.</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 measured weakness triggers no corrective action.</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W4</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Knowledge held informally, verbally and in chat groups.</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Inconsistent handling; knowledge lost on rotation.</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W5</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Manual, repetitive consolidation and distribution.</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Recurring load, delay and version-control risk.</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W6</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 visible recognition of high performers.</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 competitive incentive to improve.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W7</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Training delivery recorded; retention not measured.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Training investment cannot be evaluated.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8</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1. CURRENT SITUATION</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Constraints imposed on the solution</a:t>
            </a:r>
            <a:endParaRPr lang="en-US" sz="2400" dirty="0"/>
          </a:p>
        </p:txBody>
      </p:sp>
      <p:sp>
        <p:nvSpPr>
          <p:cNvPr id="7" name="Text 5"/>
          <p:cNvSpPr/>
          <p:nvPr/>
        </p:nvSpPr>
        <p:spPr>
          <a:xfrm>
            <a:off x="320040" y="969264"/>
            <a:ext cx="8412480" cy="310896"/>
          </a:xfrm>
          <a:prstGeom prst="rect">
            <a:avLst/>
          </a:prstGeom>
          <a:noFill/>
          <a:ln/>
        </p:spPr>
        <p:txBody>
          <a:bodyPr wrap="square" rtlCol="0" anchor="ctr"/>
          <a:lstStyle/>
          <a:p>
            <a:pPr indent="0" marL="0">
              <a:buNone/>
            </a:pPr>
            <a:r>
              <a:rPr lang="en-US" sz="1200" i="1" dirty="0">
                <a:solidFill>
                  <a:srgbClr val="5A6472"/>
                </a:solidFill>
                <a:latin typeface="Segoe UI" pitchFamily="34" charset="0"/>
                <a:ea typeface="Segoe UI" pitchFamily="34" charset="-122"/>
                <a:cs typeface="Segoe UI" pitchFamily="34" charset="-120"/>
              </a:rPr>
              <a:t>Three non-negotiable constraints, which materially shaped the architecture.</a:t>
            </a:r>
            <a:endParaRPr lang="en-US" sz="1200" dirty="0"/>
          </a:p>
        </p:txBody>
      </p:sp>
      <p:sp>
        <p:nvSpPr>
          <p:cNvPr id="8" name="Shape 6"/>
          <p:cNvSpPr/>
          <p:nvPr/>
        </p:nvSpPr>
        <p:spPr>
          <a:xfrm>
            <a:off x="320040" y="1316736"/>
            <a:ext cx="822960" cy="41148"/>
          </a:xfrm>
          <a:prstGeom prst="rect">
            <a:avLst/>
          </a:prstGeom>
          <a:solidFill>
            <a:srgbClr val="00A9E0"/>
          </a:solidFill>
          <a:ln w="12700">
            <a:solidFill>
              <a:srgbClr val="333333"/>
            </a:solidFill>
            <a:prstDash val="solid"/>
          </a:ln>
        </p:spPr>
      </p:sp>
      <p:sp>
        <p:nvSpPr>
          <p:cNvPr id="9" name="Text 7"/>
          <p:cNvSpPr/>
          <p:nvPr/>
        </p:nvSpPr>
        <p:spPr>
          <a:xfrm>
            <a:off x="502920" y="1536192"/>
            <a:ext cx="8138160" cy="3017520"/>
          </a:xfrm>
          <a:prstGeom prst="rect">
            <a:avLst/>
          </a:prstGeom>
          <a:noFill/>
          <a:ln/>
        </p:spPr>
        <p:txBody>
          <a:bodyPr wrap="square" rtlCol="0" anchor="t"/>
          <a:lstStyle/>
          <a:p>
            <a:pPr marL="228600" indent="-228600">
              <a:spcAft>
                <a:spcPts val="700"/>
              </a:spcAft>
              <a:buSzPct val="100000"/>
              <a:buChar char="•"/>
            </a:pPr>
            <a:r>
              <a:rPr lang="en-US" sz="1300" b="1" dirty="0">
                <a:solidFill>
                  <a:srgbClr val="1A1A1A"/>
                </a:solidFill>
                <a:latin typeface="Segoe UI" pitchFamily="34" charset="0"/>
                <a:ea typeface="Segoe UI" pitchFamily="34" charset="-122"/>
                <a:cs typeface="Segoe UI" pitchFamily="34" charset="-120"/>
              </a:rPr>
              <a:t>Approved AI tooling only.</a:t>
            </a:r>
            <a:endParaRPr lang="en-US" sz="1300" dirty="0"/>
          </a:p>
          <a:p>
            <a:pPr lvl="1" marL="457200" indent="-228600">
              <a:spcAft>
                <a:spcPts val="700"/>
              </a:spcAft>
              <a:buSzPct val="100000"/>
              <a:buChar char="•"/>
            </a:pPr>
            <a:r>
              <a:rPr lang="en-US" sz="1150" dirty="0">
                <a:solidFill>
                  <a:srgbClr val="5A6472"/>
                </a:solidFill>
                <a:latin typeface="Segoe UI" pitchFamily="34" charset="0"/>
                <a:ea typeface="Segoe UI" pitchFamily="34" charset="-122"/>
                <a:cs typeface="Segoe UI" pitchFamily="34" charset="-120"/>
              </a:rPr>
              <a:t>Development permitted using Claude, ChatGPT and Gemini exclusively. No other AI platform, code-generation service or external contractor was engaged.</a:t>
            </a:r>
            <a:endParaRPr lang="en-US" sz="1300" dirty="0"/>
          </a:p>
          <a:p>
            <a:pPr marL="228600" indent="-228600">
              <a:spcAft>
                <a:spcPts val="700"/>
              </a:spcAft>
              <a:buSzPct val="100000"/>
              <a:buChar char="•"/>
            </a:pPr>
            <a:r>
              <a:rPr lang="en-US" sz="1300" b="1" dirty="0">
                <a:solidFill>
                  <a:srgbClr val="1A1A1A"/>
                </a:solidFill>
                <a:latin typeface="Segoe UI" pitchFamily="34" charset="0"/>
                <a:ea typeface="Segoe UI" pitchFamily="34" charset="-122"/>
                <a:cs typeface="Segoe UI" pitchFamily="34" charset="-120"/>
              </a:rPr>
              <a:t>Internal deployment.</a:t>
            </a:r>
            <a:endParaRPr lang="en-US" sz="1300" dirty="0"/>
          </a:p>
          <a:p>
            <a:pPr lvl="1" marL="457200" indent="-228600">
              <a:spcAft>
                <a:spcPts val="700"/>
              </a:spcAft>
              <a:buSzPct val="100000"/>
              <a:buChar char="•"/>
            </a:pPr>
            <a:r>
              <a:rPr lang="en-US" sz="1150" dirty="0">
                <a:solidFill>
                  <a:srgbClr val="5A6472"/>
                </a:solidFill>
                <a:latin typeface="Segoe UI" pitchFamily="34" charset="0"/>
                <a:ea typeface="Segoe UI" pitchFamily="34" charset="-122"/>
                <a:cs typeface="Segoe UI" pitchFamily="34" charset="-120"/>
              </a:rPr>
              <a:t>Deployed and operated on the internal Samsung network for pilot use, keeping the working environment under local control.</a:t>
            </a:r>
            <a:endParaRPr lang="en-US" sz="1300" dirty="0"/>
          </a:p>
          <a:p>
            <a:pPr marL="228600" indent="-228600">
              <a:spcAft>
                <a:spcPts val="700"/>
              </a:spcAft>
              <a:buSzPct val="100000"/>
              <a:buChar char="•"/>
            </a:pPr>
            <a:r>
              <a:rPr lang="en-US" sz="1300" b="1" dirty="0">
                <a:solidFill>
                  <a:srgbClr val="1A1A1A"/>
                </a:solidFill>
                <a:latin typeface="Segoe UI" pitchFamily="34" charset="0"/>
                <a:ea typeface="Segoe UI" pitchFamily="34" charset="-122"/>
                <a:cs typeface="Segoe UI" pitchFamily="34" charset="-120"/>
              </a:rPr>
              <a:t>No incremental budget.</a:t>
            </a:r>
            <a:endParaRPr lang="en-US" sz="1300" dirty="0"/>
          </a:p>
          <a:p>
            <a:pPr lvl="1" marL="457200" indent="-228600">
              <a:spcAft>
                <a:spcPts val="700"/>
              </a:spcAft>
              <a:buSzPct val="100000"/>
              <a:buChar char="•"/>
            </a:pPr>
            <a:r>
              <a:rPr lang="en-US" sz="1150" dirty="0">
                <a:solidFill>
                  <a:srgbClr val="5A6472"/>
                </a:solidFill>
                <a:latin typeface="Segoe UI" pitchFamily="34" charset="0"/>
                <a:ea typeface="Segoe UI" pitchFamily="34" charset="-122"/>
                <a:cs typeface="Segoe UI" pitchFamily="34" charset="-120"/>
              </a:rPr>
              <a:t>No software licence, no vendor engagement, no additional infrastructure procurement.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1828800"/>
            <a:ext cx="1005840" cy="45720"/>
          </a:xfrm>
          <a:prstGeom prst="rect">
            <a:avLst/>
          </a:prstGeom>
          <a:solidFill>
            <a:srgbClr val="00A9E0"/>
          </a:solidFill>
          <a:ln w="12700">
            <a:solidFill>
              <a:srgbClr val="333333"/>
            </a:solidFill>
            <a:prstDash val="solid"/>
          </a:ln>
        </p:spPr>
      </p:sp>
      <p:sp>
        <p:nvSpPr>
          <p:cNvPr id="3" name="Text 1"/>
          <p:cNvSpPr/>
          <p:nvPr/>
        </p:nvSpPr>
        <p:spPr>
          <a:xfrm>
            <a:off x="640080" y="1207008"/>
            <a:ext cx="2743200" cy="457200"/>
          </a:xfrm>
          <a:prstGeom prst="rect">
            <a:avLst/>
          </a:prstGeom>
          <a:noFill/>
          <a:ln/>
        </p:spPr>
        <p:txBody>
          <a:bodyPr wrap="square" rtlCol="0" anchor="ctr"/>
          <a:lstStyle/>
          <a:p>
            <a:pPr indent="0" marL="0">
              <a:buNone/>
            </a:pPr>
            <a:r>
              <a:rPr lang="en-US" sz="1300" b="1" spc="200" kern="0" dirty="0">
                <a:solidFill>
                  <a:srgbClr val="00A9E0"/>
                </a:solidFill>
                <a:latin typeface="Segoe UI" pitchFamily="34" charset="0"/>
                <a:ea typeface="Segoe UI" pitchFamily="34" charset="-122"/>
                <a:cs typeface="Segoe UI" pitchFamily="34" charset="-120"/>
              </a:rPr>
              <a:t>SECTION 2</a:t>
            </a:r>
            <a:endParaRPr lang="en-US" sz="1300" dirty="0"/>
          </a:p>
        </p:txBody>
      </p:sp>
      <p:sp>
        <p:nvSpPr>
          <p:cNvPr id="4" name="Text 2"/>
          <p:cNvSpPr/>
          <p:nvPr/>
        </p:nvSpPr>
        <p:spPr>
          <a:xfrm>
            <a:off x="640080" y="2011680"/>
            <a:ext cx="7772400" cy="8229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Improvement Goals and</a:t>
            </a:r>
            <a:endParaRPr lang="en-US" sz="3200" dirty="0"/>
          </a:p>
          <a:p>
            <a:pPr indent="0" marL="0">
              <a:buNone/>
            </a:pPr>
            <a:r>
              <a:rPr lang="en-US" sz="3200" b="1" dirty="0">
                <a:solidFill>
                  <a:srgbClr val="FFFFFF"/>
                </a:solidFill>
                <a:latin typeface="Segoe UI" pitchFamily="34" charset="0"/>
                <a:ea typeface="Segoe UI" pitchFamily="34" charset="-122"/>
                <a:cs typeface="Segoe UI" pitchFamily="34" charset="-120"/>
              </a:rPr>
              <a:t>Key Improvement Items</a:t>
            </a:r>
            <a:endParaRPr lang="en-US" sz="3200" dirty="0"/>
          </a:p>
        </p:txBody>
      </p:sp>
      <p:sp>
        <p:nvSpPr>
          <p:cNvPr id="5" name="Text 3"/>
          <p:cNvSpPr/>
          <p:nvPr/>
        </p:nvSpPr>
        <p:spPr>
          <a:xfrm>
            <a:off x="640080" y="2926080"/>
            <a:ext cx="7315200" cy="731520"/>
          </a:xfrm>
          <a:prstGeom prst="rect">
            <a:avLst/>
          </a:prstGeom>
          <a:noFill/>
          <a:ln/>
        </p:spPr>
        <p:txBody>
          <a:bodyPr wrap="square" rtlCol="0" anchor="ctr"/>
          <a:lstStyle/>
          <a:p>
            <a:pPr indent="0" marL="0">
              <a:buNone/>
            </a:pPr>
            <a:r>
              <a:rPr lang="en-US" sz="1300" dirty="0">
                <a:solidFill>
                  <a:srgbClr val="B0BEC5"/>
                </a:solidFill>
                <a:latin typeface="Segoe UI" pitchFamily="34" charset="0"/>
                <a:ea typeface="Segoe UI" pitchFamily="34" charset="-122"/>
                <a:cs typeface="Segoe UI" pitchFamily="34" charset="-120"/>
              </a:rPr>
              <a:t>Objective: convert engineer evaluation from a reporting output into a capability-development engine.</a:t>
            </a:r>
            <a:endParaRPr lang="en-US" sz="1300" dirty="0"/>
          </a:p>
        </p:txBody>
      </p:sp>
      <p:sp>
        <p:nvSpPr>
          <p:cNvPr id="6" name="Text 4"/>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78909C"/>
                </a:solidFill>
                <a:latin typeface="Segoe UI" pitchFamily="34" charset="0"/>
                <a:ea typeface="Segoe UI" pitchFamily="34" charset="-122"/>
                <a:cs typeface="Segoe UI" pitchFamily="34" charset="-120"/>
              </a:rPr>
              <a:t>Confidential — Internal Use Only   |   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10</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2. IMPROVEMENT GOALS</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Strategic goals</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1691640"/>
                <a:gridCol w="3520440"/>
                <a:gridCol w="3291840"/>
              </a:tblGrid>
              <a:tr h="0">
                <a:tc>
                  <a:txBody>
                    <a:bodyPr/>
                    <a:lstStyle/>
                    <a:p>
                      <a:pPr indent="0" marL="0">
                        <a:buNone/>
                      </a:pPr>
                      <a:r>
                        <a:rPr lang="en-US" sz="1030" b="1" dirty="0">
                          <a:solidFill>
                            <a:srgbClr val="FFFFFF"/>
                          </a:solidFill>
                          <a:latin typeface="Segoe UI" pitchFamily="34" charset="0"/>
                          <a:ea typeface="Segoe UI" pitchFamily="34" charset="-122"/>
                          <a:cs typeface="Segoe UI" pitchFamily="34" charset="-120"/>
                        </a:rPr>
                        <a:t>Goal</a:t>
                      </a:r>
                      <a:endParaRPr lang="en-US" sz="10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30" b="1" dirty="0">
                          <a:solidFill>
                            <a:srgbClr val="FFFFFF"/>
                          </a:solidFill>
                          <a:latin typeface="Segoe UI" pitchFamily="34" charset="0"/>
                          <a:ea typeface="Segoe UI" pitchFamily="34" charset="-122"/>
                          <a:cs typeface="Segoe UI" pitchFamily="34" charset="-120"/>
                        </a:rPr>
                        <a:t>Definition</a:t>
                      </a:r>
                      <a:endParaRPr lang="en-US" sz="10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30" b="1" dirty="0">
                          <a:solidFill>
                            <a:srgbClr val="FFFFFF"/>
                          </a:solidFill>
                          <a:latin typeface="Segoe UI" pitchFamily="34" charset="0"/>
                          <a:ea typeface="Segoe UI" pitchFamily="34" charset="-122"/>
                          <a:cs typeface="Segoe UI" pitchFamily="34" charset="-120"/>
                        </a:rPr>
                        <a:t>Success measure</a:t>
                      </a:r>
                      <a:endParaRPr lang="en-US" sz="10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G1 Transparency</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Every evaluated engineer can see his own result, KPI breakdown and standing.</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Share of engineers accessing their own result each cycle.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G2 Actionability</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Every result carries the specific KPI gap and the corrective knowledge.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Cycle-on-cycle improvement in the weakest KPI.</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G3 Knowledge standardisation</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One verified internal source of technical and front-desk knowledge.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Published knowledge items; monthly active readers.</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G4 Capability reinforcement</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Measurable reinforcement through live competency challenges.</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Average score per session; trend by division.</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G5 Administrative efficiency</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Eliminate manual consolidation and distribution of results.</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Man-hours saved per cycle vs. baseline.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G6 Governed AI adoption</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Prove approved AI tooling can deliver production systems without governance exposure.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80" dirty="0">
                          <a:solidFill>
                            <a:srgbClr val="1A1A1A"/>
                          </a:solidFill>
                          <a:latin typeface="Segoe UI" pitchFamily="34" charset="0"/>
                          <a:ea typeface="Segoe UI" pitchFamily="34" charset="-122"/>
                          <a:cs typeface="Segoe UI" pitchFamily="34" charset="-120"/>
                        </a:rPr>
                        <a:t>Zero records sent to external AI providers at runtime.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11</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2. IMPROVEMENT GOALS</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Key improvement items delivered  (1 of 2)</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2103120"/>
                <a:gridCol w="5074920"/>
                <a:gridCol w="1325880"/>
              </a:tblGrid>
              <a:tr h="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Item</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Delivered capability</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Addresses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KI-1</a:t>
                      </a:r>
                      <a:endParaRPr lang="en-US" sz="1050" dirty="0">
                        <a:latin typeface="Segoe UI" charset="0"/>
                        <a:ea typeface="Segoe UI" charset="0"/>
                        <a:cs typeface="Segoe UI" charset="0"/>
                      </a:endParaRPr>
                    </a:p>
                    <a:p>
                      <a:pPr indent="0" marL="0">
                        <a:buNone/>
                      </a:pPr>
                      <a:r>
                        <a:rPr lang="en-US" sz="1050" dirty="0">
                          <a:solidFill>
                            <a:srgbClr val="1A1A1A"/>
                          </a:solidFill>
                          <a:latin typeface="Segoe UI" pitchFamily="34" charset="0"/>
                          <a:ea typeface="Segoe UI" pitchFamily="34" charset="-122"/>
                          <a:cs typeface="Segoe UI" pitchFamily="34" charset="-120"/>
                        </a:rPr>
                        <a:t>Engineer self-service result disclosure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Authenticated engineer access to the individual evaluation record — final result, KPI-level detail, quarterly history and ranking position.</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W1, W2</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KI-2</a:t>
                      </a:r>
                      <a:endParaRPr lang="en-US" sz="1050" dirty="0">
                        <a:latin typeface="Segoe UI" charset="0"/>
                        <a:ea typeface="Segoe UI" charset="0"/>
                        <a:cs typeface="Segoe UI" charset="0"/>
                      </a:endParaRPr>
                    </a:p>
                    <a:p>
                      <a:pPr indent="0" marL="0">
                        <a:buNone/>
                      </a:pPr>
                      <a:r>
                        <a:rPr lang="en-US" sz="1050" dirty="0">
                          <a:solidFill>
                            <a:srgbClr val="1A1A1A"/>
                          </a:solidFill>
                          <a:latin typeface="Segoe UI" pitchFamily="34" charset="0"/>
                          <a:ea typeface="Segoe UI" pitchFamily="34" charset="-122"/>
                          <a:cs typeface="Segoe UI" pitchFamily="34" charset="-120"/>
                        </a:rPr>
                        <a:t>KPI-level diagnostic view</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Each evaluation decomposed into service success rate, repeat-repair ratio, quality-check compliance, customer recommendation and examination performance.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W2</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KI-3</a:t>
                      </a:r>
                      <a:endParaRPr lang="en-US" sz="1050" dirty="0">
                        <a:latin typeface="Segoe UI" charset="0"/>
                        <a:ea typeface="Segoe UI" charset="0"/>
                        <a:cs typeface="Segoe UI" charset="0"/>
                      </a:endParaRPr>
                    </a:p>
                    <a:p>
                      <a:pPr indent="0" marL="0">
                        <a:buNone/>
                      </a:pPr>
                      <a:r>
                        <a:rPr lang="en-US" sz="1050" dirty="0">
                          <a:solidFill>
                            <a:srgbClr val="1A1A1A"/>
                          </a:solidFill>
                          <a:latin typeface="Segoe UI" pitchFamily="34" charset="0"/>
                          <a:ea typeface="Segoe UI" pitchFamily="34" charset="-122"/>
                          <a:cs typeface="Segoe UI" pitchFamily="34" charset="-120"/>
                        </a:rPr>
                        <a:t>Technical Consultant knowledge portal</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Curated, versioned knowledge base of technical tips and front-desk guidance, with per-user reading progress and comprehension checks.</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W3, W4</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12</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2. IMPROVEMENT GOALS</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Key improvement items delivered  (2 of 2)</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2103120"/>
                <a:gridCol w="5074920"/>
                <a:gridCol w="1325880"/>
              </a:tblGrid>
              <a:tr h="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Item</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Delivered capability</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Addresses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KI-4</a:t>
                      </a:r>
                      <a:endParaRPr lang="en-US" sz="1050" dirty="0">
                        <a:latin typeface="Segoe UI" charset="0"/>
                        <a:ea typeface="Segoe UI" charset="0"/>
                        <a:cs typeface="Segoe UI" charset="0"/>
                      </a:endParaRPr>
                    </a:p>
                    <a:p>
                      <a:pPr indent="0" marL="0">
                        <a:buNone/>
                      </a:pPr>
                      <a:r>
                        <a:rPr lang="en-US" sz="1050" dirty="0">
                          <a:solidFill>
                            <a:srgbClr val="1A1A1A"/>
                          </a:solidFill>
                          <a:latin typeface="Segoe UI" pitchFamily="34" charset="0"/>
                          <a:ea typeface="Segoe UI" pitchFamily="34" charset="-122"/>
                          <a:cs typeface="Segoe UI" pitchFamily="34" charset="-120"/>
                        </a:rPr>
                        <a:t>GoGo AI service assistant</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Bilingual (English / Egyptian Arabic) in-application assistant for KPI, process and product questions, with voice input and spoken response.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W3, W4</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KI-5</a:t>
                      </a:r>
                      <a:endParaRPr lang="en-US" sz="1050" dirty="0">
                        <a:latin typeface="Segoe UI" charset="0"/>
                        <a:ea typeface="Segoe UI" charset="0"/>
                        <a:cs typeface="Segoe UI" charset="0"/>
                      </a:endParaRPr>
                    </a:p>
                    <a:p>
                      <a:pPr indent="0" marL="0">
                        <a:buNone/>
                      </a:pPr>
                      <a:r>
                        <a:rPr lang="en-US" sz="1050" dirty="0">
                          <a:solidFill>
                            <a:srgbClr val="1A1A1A"/>
                          </a:solidFill>
                          <a:latin typeface="Segoe UI" pitchFamily="34" charset="0"/>
                          <a:ea typeface="Segoe UI" pitchFamily="34" charset="-122"/>
                          <a:cs typeface="Segoe UI" pitchFamily="34" charset="-120"/>
                        </a:rPr>
                        <a:t>SCORA Challenge live competency quiz</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Live PIN-joined challenge for up to 200 concurrent participants, server-authoritative scoring, five question formats, live leaderboard.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W6, W7</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KI-6</a:t>
                      </a:r>
                      <a:endParaRPr lang="en-US" sz="1050" dirty="0">
                        <a:latin typeface="Segoe UI" charset="0"/>
                        <a:ea typeface="Segoe UI" charset="0"/>
                        <a:cs typeface="Segoe UI" charset="0"/>
                      </a:endParaRPr>
                    </a:p>
                    <a:p>
                      <a:pPr indent="0" marL="0">
                        <a:buNone/>
                      </a:pPr>
                      <a:r>
                        <a:rPr lang="en-US" sz="1050" dirty="0">
                          <a:solidFill>
                            <a:srgbClr val="1A1A1A"/>
                          </a:solidFill>
                          <a:latin typeface="Segoe UI" pitchFamily="34" charset="0"/>
                          <a:ea typeface="Segoe UI" pitchFamily="34" charset="-122"/>
                          <a:cs typeface="Segoe UI" pitchFamily="34" charset="-120"/>
                        </a:rPr>
                        <a:t>Administrative automation and governance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Workbook-driven import, automated ranking and tiering, role-based access, immutable audit logging, controlled management export.</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W5</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1828800"/>
            <a:ext cx="1005840" cy="45720"/>
          </a:xfrm>
          <a:prstGeom prst="rect">
            <a:avLst/>
          </a:prstGeom>
          <a:solidFill>
            <a:srgbClr val="00A9E0"/>
          </a:solidFill>
          <a:ln w="12700">
            <a:solidFill>
              <a:srgbClr val="333333"/>
            </a:solidFill>
            <a:prstDash val="solid"/>
          </a:ln>
        </p:spPr>
      </p:sp>
      <p:sp>
        <p:nvSpPr>
          <p:cNvPr id="3" name="Text 1"/>
          <p:cNvSpPr/>
          <p:nvPr/>
        </p:nvSpPr>
        <p:spPr>
          <a:xfrm>
            <a:off x="640080" y="1207008"/>
            <a:ext cx="2743200" cy="457200"/>
          </a:xfrm>
          <a:prstGeom prst="rect">
            <a:avLst/>
          </a:prstGeom>
          <a:noFill/>
          <a:ln/>
        </p:spPr>
        <p:txBody>
          <a:bodyPr wrap="square" rtlCol="0" anchor="ctr"/>
          <a:lstStyle/>
          <a:p>
            <a:pPr indent="0" marL="0">
              <a:buNone/>
            </a:pPr>
            <a:r>
              <a:rPr lang="en-US" sz="1300" b="1" spc="200" kern="0" dirty="0">
                <a:solidFill>
                  <a:srgbClr val="00A9E0"/>
                </a:solidFill>
                <a:latin typeface="Segoe UI" pitchFamily="34" charset="0"/>
                <a:ea typeface="Segoe UI" pitchFamily="34" charset="-122"/>
                <a:cs typeface="Segoe UI" pitchFamily="34" charset="-120"/>
              </a:rPr>
              <a:t>SECTION 3</a:t>
            </a:r>
            <a:endParaRPr lang="en-US" sz="1300" dirty="0"/>
          </a:p>
        </p:txBody>
      </p:sp>
      <p:sp>
        <p:nvSpPr>
          <p:cNvPr id="4" name="Text 2"/>
          <p:cNvSpPr/>
          <p:nvPr/>
        </p:nvSpPr>
        <p:spPr>
          <a:xfrm>
            <a:off x="640080" y="2011680"/>
            <a:ext cx="7772400" cy="8229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Workflow Before and</a:t>
            </a:r>
            <a:endParaRPr lang="en-US" sz="3200" dirty="0"/>
          </a:p>
          <a:p>
            <a:pPr indent="0" marL="0">
              <a:buNone/>
            </a:pPr>
            <a:r>
              <a:rPr lang="en-US" sz="3200" b="1" dirty="0">
                <a:solidFill>
                  <a:srgbClr val="FFFFFF"/>
                </a:solidFill>
                <a:latin typeface="Segoe UI" pitchFamily="34" charset="0"/>
                <a:ea typeface="Segoe UI" pitchFamily="34" charset="-122"/>
                <a:cs typeface="Segoe UI" pitchFamily="34" charset="-120"/>
              </a:rPr>
              <a:t>After Improvement</a:t>
            </a:r>
            <a:endParaRPr lang="en-US" sz="3200" dirty="0"/>
          </a:p>
        </p:txBody>
      </p:sp>
      <p:sp>
        <p:nvSpPr>
          <p:cNvPr id="5" name="Text 3"/>
          <p:cNvSpPr/>
          <p:nvPr/>
        </p:nvSpPr>
        <p:spPr>
          <a:xfrm>
            <a:off x="640080" y="2926080"/>
            <a:ext cx="7315200" cy="731520"/>
          </a:xfrm>
          <a:prstGeom prst="rect">
            <a:avLst/>
          </a:prstGeom>
          <a:noFill/>
          <a:ln/>
        </p:spPr>
        <p:txBody>
          <a:bodyPr wrap="square" rtlCol="0" anchor="ctr"/>
          <a:lstStyle/>
          <a:p>
            <a:pPr indent="0" marL="0">
              <a:buNone/>
            </a:pPr>
            <a:r>
              <a:rPr lang="en-US" sz="1300" dirty="0">
                <a:solidFill>
                  <a:srgbClr val="B0BEC5"/>
                </a:solidFill>
                <a:latin typeface="Segoe UI" pitchFamily="34" charset="0"/>
                <a:ea typeface="Segoe UI" pitchFamily="34" charset="-122"/>
                <a:cs typeface="Segoe UI" pitchFamily="34" charset="-120"/>
              </a:rPr>
              <a:t>The decisive change: the process no longer ends at management reporting — it loops back to the engineer.</a:t>
            </a:r>
            <a:endParaRPr lang="en-US" sz="1300" dirty="0"/>
          </a:p>
        </p:txBody>
      </p:sp>
      <p:sp>
        <p:nvSpPr>
          <p:cNvPr id="6" name="Text 4"/>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78909C"/>
                </a:solidFill>
                <a:latin typeface="Segoe UI" pitchFamily="34" charset="0"/>
                <a:ea typeface="Segoe UI" pitchFamily="34" charset="-122"/>
                <a:cs typeface="Segoe UI" pitchFamily="34" charset="-120"/>
              </a:rPr>
              <a:t>Confidential — Internal Use Only   |   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14</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3. WORKFLOW</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Evaluation feedback workflow</a:t>
            </a:r>
            <a:endParaRPr lang="en-US" sz="2400" dirty="0"/>
          </a:p>
        </p:txBody>
      </p:sp>
      <p:sp>
        <p:nvSpPr>
          <p:cNvPr id="7" name="Text 5"/>
          <p:cNvSpPr/>
          <p:nvPr/>
        </p:nvSpPr>
        <p:spPr>
          <a:xfrm>
            <a:off x="320040" y="969264"/>
            <a:ext cx="8412480" cy="310896"/>
          </a:xfrm>
          <a:prstGeom prst="rect">
            <a:avLst/>
          </a:prstGeom>
          <a:noFill/>
          <a:ln/>
        </p:spPr>
        <p:txBody>
          <a:bodyPr wrap="square" rtlCol="0" anchor="ctr"/>
          <a:lstStyle/>
          <a:p>
            <a:pPr indent="0" marL="0">
              <a:buNone/>
            </a:pPr>
            <a:r>
              <a:rPr lang="en-US" sz="1200" i="1" dirty="0">
                <a:solidFill>
                  <a:srgbClr val="5A6472"/>
                </a:solidFill>
                <a:latin typeface="Segoe UI" pitchFamily="34" charset="0"/>
                <a:ea typeface="Segoe UI" pitchFamily="34" charset="-122"/>
                <a:cs typeface="Segoe UI" pitchFamily="34" charset="-120"/>
              </a:rPr>
              <a:t>The same evaluation data, two fundamentally different outcomes.</a:t>
            </a:r>
            <a:endParaRPr lang="en-US" sz="1200" dirty="0"/>
          </a:p>
        </p:txBody>
      </p:sp>
      <p:sp>
        <p:nvSpPr>
          <p:cNvPr id="8" name="Shape 6"/>
          <p:cNvSpPr/>
          <p:nvPr/>
        </p:nvSpPr>
        <p:spPr>
          <a:xfrm>
            <a:off x="320040" y="1316736"/>
            <a:ext cx="822960" cy="41148"/>
          </a:xfrm>
          <a:prstGeom prst="rect">
            <a:avLst/>
          </a:prstGeom>
          <a:solidFill>
            <a:srgbClr val="00A9E0"/>
          </a:solidFill>
          <a:ln w="12700">
            <a:solidFill>
              <a:srgbClr val="333333"/>
            </a:solidFill>
            <a:prstDash val="solid"/>
          </a:ln>
        </p:spPr>
      </p:sp>
      <p:sp>
        <p:nvSpPr>
          <p:cNvPr id="9" name="Shape 7"/>
          <p:cNvSpPr/>
          <p:nvPr/>
        </p:nvSpPr>
        <p:spPr>
          <a:xfrm>
            <a:off x="320040" y="1572768"/>
            <a:ext cx="4114800" cy="384048"/>
          </a:xfrm>
          <a:prstGeom prst="rect">
            <a:avLst/>
          </a:prstGeom>
          <a:solidFill>
            <a:srgbClr val="8B1A1A"/>
          </a:solidFill>
          <a:ln w="12700">
            <a:solidFill>
              <a:srgbClr val="333333"/>
            </a:solidFill>
            <a:prstDash val="solid"/>
          </a:ln>
        </p:spPr>
      </p:sp>
      <p:sp>
        <p:nvSpPr>
          <p:cNvPr id="10" name="Text 8"/>
          <p:cNvSpPr/>
          <p:nvPr/>
        </p:nvSpPr>
        <p:spPr>
          <a:xfrm>
            <a:off x="448056" y="1572768"/>
            <a:ext cx="3858768" cy="384048"/>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BEFORE IMPROVEMENT</a:t>
            </a:r>
            <a:endParaRPr lang="en-US" sz="1200" dirty="0"/>
          </a:p>
        </p:txBody>
      </p:sp>
      <p:sp>
        <p:nvSpPr>
          <p:cNvPr id="11" name="Text 9"/>
          <p:cNvSpPr/>
          <p:nvPr/>
        </p:nvSpPr>
        <p:spPr>
          <a:xfrm>
            <a:off x="365760" y="2029968"/>
            <a:ext cx="4023360" cy="2121408"/>
          </a:xfrm>
          <a:prstGeom prst="rect">
            <a:avLst/>
          </a:prstGeom>
          <a:noFill/>
          <a:ln/>
        </p:spPr>
        <p:txBody>
          <a:bodyPr wrap="square" rtlCol="0" anchor="t"/>
          <a:lstStyle/>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1.  KPI data consolidated into evaluation workbooks at cycle close.</a:t>
            </a:r>
            <a:endParaRPr lang="en-US" sz="1050" dirty="0"/>
          </a:p>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2.  Scores and rankings calculated manually in spreadsheets.</a:t>
            </a:r>
            <a:endParaRPr lang="en-US" sz="1050" dirty="0"/>
          </a:p>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3.  Results reported upward to management.</a:t>
            </a:r>
            <a:endParaRPr lang="en-US" sz="1050" dirty="0"/>
          </a:p>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4.  No structured distribution to the individual engineer.</a:t>
            </a:r>
            <a:endParaRPr lang="en-US" sz="1050" dirty="0"/>
          </a:p>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5.  Engineer continues working unaware of result, gap or ranking.</a:t>
            </a:r>
            <a:endParaRPr lang="en-US" sz="1050" dirty="0"/>
          </a:p>
        </p:txBody>
      </p:sp>
      <p:sp>
        <p:nvSpPr>
          <p:cNvPr id="12" name="Shape 10"/>
          <p:cNvSpPr/>
          <p:nvPr/>
        </p:nvSpPr>
        <p:spPr>
          <a:xfrm>
            <a:off x="320040" y="4224528"/>
            <a:ext cx="4114800" cy="457200"/>
          </a:xfrm>
          <a:prstGeom prst="rect">
            <a:avLst/>
          </a:prstGeom>
          <a:solidFill>
            <a:srgbClr val="F2F5FA"/>
          </a:solidFill>
          <a:ln w="9525">
            <a:solidFill>
              <a:srgbClr val="8B1A1A"/>
            </a:solidFill>
            <a:prstDash val="solid"/>
          </a:ln>
        </p:spPr>
      </p:sp>
      <p:sp>
        <p:nvSpPr>
          <p:cNvPr id="13" name="Text 11"/>
          <p:cNvSpPr/>
          <p:nvPr/>
        </p:nvSpPr>
        <p:spPr>
          <a:xfrm>
            <a:off x="448056" y="4224528"/>
            <a:ext cx="3858768" cy="457200"/>
          </a:xfrm>
          <a:prstGeom prst="rect">
            <a:avLst/>
          </a:prstGeom>
          <a:noFill/>
          <a:ln/>
        </p:spPr>
        <p:txBody>
          <a:bodyPr wrap="square" rtlCol="0" anchor="ctr"/>
          <a:lstStyle/>
          <a:p>
            <a:pPr indent="0" marL="0">
              <a:buNone/>
            </a:pPr>
            <a:r>
              <a:rPr lang="en-US" sz="1100" b="1" dirty="0">
                <a:solidFill>
                  <a:srgbClr val="8B1A1A"/>
                </a:solidFill>
                <a:latin typeface="Segoe UI" pitchFamily="34" charset="0"/>
                <a:ea typeface="Segoe UI" pitchFamily="34" charset="-122"/>
                <a:cs typeface="Segoe UI" pitchFamily="34" charset="-120"/>
              </a:rPr>
              <a:t>PROCESS ENDS — no corrective action is triggered.</a:t>
            </a:r>
            <a:endParaRPr lang="en-US" sz="1100" dirty="0"/>
          </a:p>
        </p:txBody>
      </p:sp>
      <p:sp>
        <p:nvSpPr>
          <p:cNvPr id="14" name="Shape 12"/>
          <p:cNvSpPr/>
          <p:nvPr/>
        </p:nvSpPr>
        <p:spPr>
          <a:xfrm>
            <a:off x="4709160" y="1572768"/>
            <a:ext cx="4114800" cy="384048"/>
          </a:xfrm>
          <a:prstGeom prst="rect">
            <a:avLst/>
          </a:prstGeom>
          <a:solidFill>
            <a:srgbClr val="1428A0"/>
          </a:solidFill>
          <a:ln w="12700">
            <a:solidFill>
              <a:srgbClr val="333333"/>
            </a:solidFill>
            <a:prstDash val="solid"/>
          </a:ln>
        </p:spPr>
      </p:sp>
      <p:sp>
        <p:nvSpPr>
          <p:cNvPr id="15" name="Text 13"/>
          <p:cNvSpPr/>
          <p:nvPr/>
        </p:nvSpPr>
        <p:spPr>
          <a:xfrm>
            <a:off x="4837176" y="1572768"/>
            <a:ext cx="3858768" cy="384048"/>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AFTER IMPROVEMENT</a:t>
            </a:r>
            <a:endParaRPr lang="en-US" sz="1200" dirty="0"/>
          </a:p>
        </p:txBody>
      </p:sp>
      <p:sp>
        <p:nvSpPr>
          <p:cNvPr id="16" name="Text 14"/>
          <p:cNvSpPr/>
          <p:nvPr/>
        </p:nvSpPr>
        <p:spPr>
          <a:xfrm>
            <a:off x="4754880" y="2029968"/>
            <a:ext cx="4023360" cy="2121408"/>
          </a:xfrm>
          <a:prstGeom prst="rect">
            <a:avLst/>
          </a:prstGeom>
          <a:noFill/>
          <a:ln/>
        </p:spPr>
        <p:txBody>
          <a:bodyPr wrap="square" rtlCol="0" anchor="t"/>
          <a:lstStyle/>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1.  Administrator uploads the workbook; SCORA validates and imports it.</a:t>
            </a:r>
            <a:endParaRPr lang="en-US" sz="1050" dirty="0"/>
          </a:p>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2.  Results, ranking and tier calculated automatically by division and role.</a:t>
            </a:r>
            <a:endParaRPr lang="en-US" sz="1050" dirty="0"/>
          </a:p>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3.  Engineer signs in and sees his own result, KPI breakdown and trend.</a:t>
            </a:r>
            <a:endParaRPr lang="en-US" sz="1050" dirty="0"/>
          </a:p>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4.  Weakest KPI identified and routed to the relevant knowledge items.</a:t>
            </a:r>
            <a:endParaRPr lang="en-US" sz="1050" dirty="0"/>
          </a:p>
          <a:p>
            <a:pPr indent="0" marL="0">
              <a:spcAft>
                <a:spcPts val="500"/>
              </a:spcAft>
              <a:buNone/>
            </a:pPr>
            <a:r>
              <a:rPr lang="en-US" sz="1050" dirty="0">
                <a:solidFill>
                  <a:srgbClr val="1A1A1A"/>
                </a:solidFill>
                <a:latin typeface="Segoe UI" pitchFamily="34" charset="0"/>
                <a:ea typeface="Segoe UI" pitchFamily="34" charset="-122"/>
                <a:cs typeface="Segoe UI" pitchFamily="34" charset="-120"/>
              </a:rPr>
              <a:t>5.  GoGo answers follow-ups; SCORA Challenge measures retention.</a:t>
            </a:r>
            <a:endParaRPr lang="en-US" sz="1050" dirty="0"/>
          </a:p>
        </p:txBody>
      </p:sp>
      <p:sp>
        <p:nvSpPr>
          <p:cNvPr id="17" name="Shape 15"/>
          <p:cNvSpPr/>
          <p:nvPr/>
        </p:nvSpPr>
        <p:spPr>
          <a:xfrm>
            <a:off x="4709160" y="4224528"/>
            <a:ext cx="4114800" cy="457200"/>
          </a:xfrm>
          <a:prstGeom prst="rect">
            <a:avLst/>
          </a:prstGeom>
          <a:solidFill>
            <a:srgbClr val="F2F5FA"/>
          </a:solidFill>
          <a:ln w="9525">
            <a:solidFill>
              <a:srgbClr val="1428A0"/>
            </a:solidFill>
            <a:prstDash val="solid"/>
          </a:ln>
        </p:spPr>
      </p:sp>
      <p:sp>
        <p:nvSpPr>
          <p:cNvPr id="18" name="Text 16"/>
          <p:cNvSpPr/>
          <p:nvPr/>
        </p:nvSpPr>
        <p:spPr>
          <a:xfrm>
            <a:off x="4837176" y="4224528"/>
            <a:ext cx="3858768" cy="457200"/>
          </a:xfrm>
          <a:prstGeom prst="rect">
            <a:avLst/>
          </a:prstGeom>
          <a:noFill/>
          <a:ln/>
        </p:spPr>
        <p:txBody>
          <a:bodyPr wrap="square" rtlCol="0" anchor="ctr"/>
          <a:lstStyle/>
          <a:p>
            <a:pPr indent="0" marL="0">
              <a:buNone/>
            </a:pPr>
            <a:r>
              <a:rPr lang="en-US" sz="1100" b="1" dirty="0">
                <a:solidFill>
                  <a:srgbClr val="1428A0"/>
                </a:solidFill>
                <a:latin typeface="Segoe UI" pitchFamily="34" charset="0"/>
                <a:ea typeface="Segoe UI" pitchFamily="34" charset="-122"/>
                <a:cs typeface="Segoe UI" pitchFamily="34" charset="-120"/>
              </a:rPr>
              <a:t>PROCESS LOOPS — next cycle measures an informed engineer.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15</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3. WORKFLOW</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Comparative summary</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2286000"/>
                <a:gridCol w="3108960"/>
                <a:gridCol w="3108960"/>
              </a:tblGrid>
              <a:tr h="0">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Process dimension</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Before improvement</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After improvement</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Result visibility to engineer</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None — held in management reporting.</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Self-service, authenticated, on demand.</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Diagnosis of weakness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Not provided at KPI level.</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KPI-level breakdown per cycle, per engineer.</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Link to corrective learning</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No structured link.</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Result routes to relevant knowledge items.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Knowledge source</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Verbal and informal chat circulation.</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Central, verified, versioned portal.</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Language accessibility</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Effectively English-only.</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English and Egyptian Arabic, with voice.</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Result consolidation</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Manual spreadsheet work each cycle.</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Automated import, calculation and ranking.</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Recognition of performance</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Not visible to peers.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Ranking, tiers and live leaderboards.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Training effectiveness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Attendance recorded; retention unmeasured.</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Retention measured per participant.</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Auditability of changes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Limited traceability of manual edits.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Immutable audit log of every action.</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bl>
          </a:graphicData>
        </a:graphic>
      </p:graphicFrame>
      <p:sp>
        <p:nvSpPr>
          <p:cNvPr id="9" name="Text 6"/>
          <p:cNvSpPr/>
          <p:nvPr/>
        </p:nvSpPr>
        <p:spPr>
          <a:xfrm>
            <a:off x="320040" y="4315968"/>
            <a:ext cx="8503920" cy="365760"/>
          </a:xfrm>
          <a:prstGeom prst="rect">
            <a:avLst/>
          </a:prstGeom>
          <a:noFill/>
          <a:ln/>
        </p:spPr>
        <p:txBody>
          <a:bodyPr wrap="square" rtlCol="0" anchor="ctr"/>
          <a:lstStyle/>
          <a:p>
            <a:pPr indent="0" marL="0">
              <a:buNone/>
            </a:pPr>
            <a:r>
              <a:rPr lang="en-US" sz="900" i="1" dirty="0">
                <a:solidFill>
                  <a:srgbClr val="B32017"/>
                </a:solidFill>
                <a:latin typeface="Segoe UI" pitchFamily="34" charset="0"/>
                <a:ea typeface="Segoe UI" pitchFamily="34" charset="-122"/>
                <a:cs typeface="Segoe UI" pitchFamily="34" charset="-120"/>
              </a:rPr>
              <a:t>DATA TO CONFIRM: elapsed days from cycle close to engineer awareness (before vs. after); man-hours per cycle.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1828800"/>
            <a:ext cx="1005840" cy="45720"/>
          </a:xfrm>
          <a:prstGeom prst="rect">
            <a:avLst/>
          </a:prstGeom>
          <a:solidFill>
            <a:srgbClr val="00A9E0"/>
          </a:solidFill>
          <a:ln w="12700">
            <a:solidFill>
              <a:srgbClr val="333333"/>
            </a:solidFill>
            <a:prstDash val="solid"/>
          </a:ln>
        </p:spPr>
      </p:sp>
      <p:sp>
        <p:nvSpPr>
          <p:cNvPr id="3" name="Text 1"/>
          <p:cNvSpPr/>
          <p:nvPr/>
        </p:nvSpPr>
        <p:spPr>
          <a:xfrm>
            <a:off x="640080" y="1207008"/>
            <a:ext cx="2743200" cy="457200"/>
          </a:xfrm>
          <a:prstGeom prst="rect">
            <a:avLst/>
          </a:prstGeom>
          <a:noFill/>
          <a:ln/>
        </p:spPr>
        <p:txBody>
          <a:bodyPr wrap="square" rtlCol="0" anchor="ctr"/>
          <a:lstStyle/>
          <a:p>
            <a:pPr indent="0" marL="0">
              <a:buNone/>
            </a:pPr>
            <a:r>
              <a:rPr lang="en-US" sz="1300" b="1" spc="200" kern="0" dirty="0">
                <a:solidFill>
                  <a:srgbClr val="00A9E0"/>
                </a:solidFill>
                <a:latin typeface="Segoe UI" pitchFamily="34" charset="0"/>
                <a:ea typeface="Segoe UI" pitchFamily="34" charset="-122"/>
                <a:cs typeface="Segoe UI" pitchFamily="34" charset="-120"/>
              </a:rPr>
              <a:t>SECTION 4</a:t>
            </a:r>
            <a:endParaRPr lang="en-US" sz="1300" dirty="0"/>
          </a:p>
        </p:txBody>
      </p:sp>
      <p:sp>
        <p:nvSpPr>
          <p:cNvPr id="4" name="Text 2"/>
          <p:cNvSpPr/>
          <p:nvPr/>
        </p:nvSpPr>
        <p:spPr>
          <a:xfrm>
            <a:off x="640080" y="2011680"/>
            <a:ext cx="7772400" cy="8229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Scope of Implementation and</a:t>
            </a:r>
            <a:endParaRPr lang="en-US" sz="3200" dirty="0"/>
          </a:p>
          <a:p>
            <a:pPr indent="0" marL="0">
              <a:buNone/>
            </a:pPr>
            <a:r>
              <a:rPr lang="en-US" sz="3200" b="1" dirty="0">
                <a:solidFill>
                  <a:srgbClr val="FFFFFF"/>
                </a:solidFill>
                <a:latin typeface="Segoe UI" pitchFamily="34" charset="0"/>
                <a:ea typeface="Segoe UI" pitchFamily="34" charset="-122"/>
                <a:cs typeface="Segoe UI" pitchFamily="34" charset="-120"/>
              </a:rPr>
              <a:t>Key Function Details</a:t>
            </a:r>
            <a:endParaRPr lang="en-US" sz="3200" dirty="0"/>
          </a:p>
        </p:txBody>
      </p:sp>
      <p:sp>
        <p:nvSpPr>
          <p:cNvPr id="5" name="Text 3"/>
          <p:cNvSpPr/>
          <p:nvPr/>
        </p:nvSpPr>
        <p:spPr>
          <a:xfrm>
            <a:off x="640080" y="2926080"/>
            <a:ext cx="7315200" cy="731520"/>
          </a:xfrm>
          <a:prstGeom prst="rect">
            <a:avLst/>
          </a:prstGeom>
          <a:noFill/>
          <a:ln/>
        </p:spPr>
        <p:txBody>
          <a:bodyPr wrap="square" rtlCol="0" anchor="ctr"/>
          <a:lstStyle/>
          <a:p>
            <a:pPr indent="0" marL="0">
              <a:buNone/>
            </a:pPr>
            <a:r>
              <a:rPr lang="en-US" sz="1300" dirty="0">
                <a:solidFill>
                  <a:srgbClr val="B0BEC5"/>
                </a:solidFill>
                <a:latin typeface="Segoe UI" pitchFamily="34" charset="0"/>
                <a:ea typeface="Segoe UI" pitchFamily="34" charset="-122"/>
                <a:cs typeface="Segoe UI" pitchFamily="34" charset="-120"/>
              </a:rPr>
              <a:t>Eight functional modules, three divisions, three evaluated roles — operational today.</a:t>
            </a:r>
            <a:endParaRPr lang="en-US" sz="1300" dirty="0"/>
          </a:p>
        </p:txBody>
      </p:sp>
      <p:sp>
        <p:nvSpPr>
          <p:cNvPr id="6" name="Text 4"/>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78909C"/>
                </a:solidFill>
                <a:latin typeface="Segoe UI" pitchFamily="34" charset="0"/>
                <a:ea typeface="Segoe UI" pitchFamily="34" charset="-122"/>
                <a:cs typeface="Segoe UI" pitchFamily="34" charset="-120"/>
              </a:rPr>
              <a:t>Confidential — Internal Use Only   |   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17</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4. SCOPE</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Scope of implementation</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2194560"/>
                <a:gridCol w="6309360"/>
              </a:tblGrid>
              <a:tr h="0">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Dimension</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In scope</a:t>
                      </a:r>
                      <a:endParaRPr lang="en-US" sz="11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Divisions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Mobile Experience (MX), Digital Appliances (DA), Audio-Visual (AV)</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Evaluated roles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Field service engineers; front-desk receptionists; Galaxy consultants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Evaluation cycle</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Monthly capture, quarterly consolidation (Q1–Q4), multi-quarter averaging</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User groups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Engineers and front-desk staff; division administrators; management reviewers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Quality programme</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Partner and service-centre quality audit (PQA) scoring across the seven official service partners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Deployment</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Internal network deployment for pilot operation</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Explicitly excluded</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Segoe UI" pitchFamily="34" charset="0"/>
                          <a:ea typeface="Segoe UI" pitchFamily="34" charset="-122"/>
                          <a:cs typeface="Segoe UI" pitchFamily="34" charset="-120"/>
                        </a:rPr>
                        <a:t>Payroll, HR master data, and customer-identifiable service records</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18</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4. KEY FUNCTIONS</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Key functional modules  (1 of 2)</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2148840"/>
                <a:gridCol w="6355080"/>
              </a:tblGrid>
              <a:tr h="0">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Module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Key function detail</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M1  Evaluation and ranking engine</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Validated workbook import with column mapping. Computes final result per quarter, multi-quarter average, ranking and recognition tier. KPI components: service success rate, repeat-repair ratio (30/90-day), quality-check compliance, customer recommendation, examination performance. Role-specific models for receptionists and Galaxy consultants.</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M2  Engineer self-service portal</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Individual authenticated sign-in; each engineer sees only his own record. Personal result card with KPI breakdown, quarter-by-quarter trend and tier. Direct routing from a weak KPI to corrective knowledge.</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M3  Technical Consultant knowledge portal</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Central publication of bilingual technical tips and front-desk guidance with document and image attachments. Content targeted by audience (all staff, MX only, or DA/AV). Items can be made mandatory, with per-user progress, a minimum engagement time and a comprehension check required before completion is recorded. Draft / published / archived editorial control, plus urgent technical bulletins.</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M4  GoGo AI service assistant</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Guided conversation covering KPI definitions, service process and product information. Full English and Egyptian Arabic support with voice input and spoken response. Answers drawn from curated internal knowledge rather than generative output; product specification lookups use a restricted allow-listed source.</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19</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4. KEY FUNCTIONS</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Key functional modules  (2 of 2)</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2148840"/>
                <a:gridCol w="6355080"/>
              </a:tblGrid>
              <a:tr h="0">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Module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Key function detail</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M5  SCORA Challenge competency quiz</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Up to 200 concurrent participants joining by six-digit PIN or QR code. Five formats: single choice, multiple choice, true/false, typed answer, poll. Server-authoritative scoring — never trusted from the client. Host-controlled flow with configurable timing, answer randomisation and auto-advance. Live leaderboard, podium and post-session analysis by division.</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M6  Administrative portal and governance</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Role-based access across super-administrator, administrator, editor and viewer. Module-level write permissions restrictable to a single division or function. Immutable server-side audit log. Management report studio with Excel export. Undo for recent administrative data changes.</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M7  Voice of the customer and internal feedback</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Samsung Academy training survey with analytics dashboard and filtered export. Arabic engineer feedback form for improvement suggestions. Administrator-controlled visibility switches per public form.</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M8  Mobile application experience</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Installable to the mobile home screen as a standalone application. Notification capability for new results and technical bulletins. Optimised for field use on mobile devices over the internal network.</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20</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4. DELIVERY SCALE</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Delivery scale — measured, not estimated</a:t>
            </a:r>
            <a:endParaRPr lang="en-US" sz="2400" dirty="0"/>
          </a:p>
        </p:txBody>
      </p:sp>
      <p:sp>
        <p:nvSpPr>
          <p:cNvPr id="7" name="Text 5"/>
          <p:cNvSpPr/>
          <p:nvPr/>
        </p:nvSpPr>
        <p:spPr>
          <a:xfrm>
            <a:off x="320040" y="969264"/>
            <a:ext cx="8412480" cy="310896"/>
          </a:xfrm>
          <a:prstGeom prst="rect">
            <a:avLst/>
          </a:prstGeom>
          <a:noFill/>
          <a:ln/>
        </p:spPr>
        <p:txBody>
          <a:bodyPr wrap="square" rtlCol="0" anchor="ctr"/>
          <a:lstStyle/>
          <a:p>
            <a:pPr indent="0" marL="0">
              <a:buNone/>
            </a:pPr>
            <a:r>
              <a:rPr lang="en-US" sz="1200" i="1" dirty="0">
                <a:solidFill>
                  <a:srgbClr val="5A6472"/>
                </a:solidFill>
                <a:latin typeface="Segoe UI" pitchFamily="34" charset="0"/>
                <a:ea typeface="Segoe UI" pitchFamily="34" charset="-122"/>
                <a:cs typeface="Segoe UI" pitchFamily="34" charset="-120"/>
              </a:rPr>
              <a:t>All figures taken directly from the version-controlled application source.</a:t>
            </a:r>
            <a:endParaRPr lang="en-US" sz="1200" dirty="0"/>
          </a:p>
        </p:txBody>
      </p:sp>
      <p:sp>
        <p:nvSpPr>
          <p:cNvPr id="8" name="Shape 6"/>
          <p:cNvSpPr/>
          <p:nvPr/>
        </p:nvSpPr>
        <p:spPr>
          <a:xfrm>
            <a:off x="320040" y="1316736"/>
            <a:ext cx="822960" cy="41148"/>
          </a:xfrm>
          <a:prstGeom prst="rect">
            <a:avLst/>
          </a:prstGeom>
          <a:solidFill>
            <a:srgbClr val="00A9E0"/>
          </a:solidFill>
          <a:ln w="12700">
            <a:solidFill>
              <a:srgbClr val="333333"/>
            </a:solidFill>
            <a:prstDash val="solid"/>
          </a:ln>
        </p:spPr>
      </p:sp>
      <p:sp>
        <p:nvSpPr>
          <p:cNvPr id="9" name="Shape 7"/>
          <p:cNvSpPr/>
          <p:nvPr/>
        </p:nvSpPr>
        <p:spPr>
          <a:xfrm>
            <a:off x="365760" y="1572768"/>
            <a:ext cx="2670048" cy="1298448"/>
          </a:xfrm>
          <a:prstGeom prst="roundRect">
            <a:avLst>
              <a:gd name="adj" fmla="val 4225"/>
            </a:avLst>
          </a:prstGeom>
          <a:solidFill>
            <a:srgbClr val="F2F5FA"/>
          </a:solidFill>
          <a:ln w="6350">
            <a:solidFill>
              <a:srgbClr val="C9D2DD"/>
            </a:solidFill>
            <a:prstDash val="solid"/>
          </a:ln>
        </p:spPr>
      </p:sp>
      <p:sp>
        <p:nvSpPr>
          <p:cNvPr id="10" name="Text 8"/>
          <p:cNvSpPr/>
          <p:nvPr/>
        </p:nvSpPr>
        <p:spPr>
          <a:xfrm>
            <a:off x="475488" y="1719072"/>
            <a:ext cx="2450592" cy="502920"/>
          </a:xfrm>
          <a:prstGeom prst="rect">
            <a:avLst/>
          </a:prstGeom>
          <a:noFill/>
          <a:ln/>
        </p:spPr>
        <p:txBody>
          <a:bodyPr wrap="square" rtlCol="0" anchor="ctr"/>
          <a:lstStyle/>
          <a:p>
            <a:pPr indent="0" marL="0">
              <a:buNone/>
            </a:pPr>
            <a:r>
              <a:rPr lang="en-US" sz="2600" b="1" dirty="0">
                <a:solidFill>
                  <a:srgbClr val="1428A0"/>
                </a:solidFill>
                <a:latin typeface="Segoe UI" pitchFamily="34" charset="0"/>
                <a:ea typeface="Segoe UI" pitchFamily="34" charset="-122"/>
                <a:cs typeface="Segoe UI" pitchFamily="34" charset="-120"/>
              </a:rPr>
              <a:t>~39,700</a:t>
            </a:r>
            <a:endParaRPr lang="en-US" sz="2600" dirty="0"/>
          </a:p>
        </p:txBody>
      </p:sp>
      <p:sp>
        <p:nvSpPr>
          <p:cNvPr id="11" name="Text 9"/>
          <p:cNvSpPr/>
          <p:nvPr/>
        </p:nvSpPr>
        <p:spPr>
          <a:xfrm>
            <a:off x="475488" y="2249424"/>
            <a:ext cx="2450592" cy="502920"/>
          </a:xfrm>
          <a:prstGeom prst="rect">
            <a:avLst/>
          </a:prstGeom>
          <a:noFill/>
          <a:ln/>
        </p:spPr>
        <p:txBody>
          <a:bodyPr wrap="square" rtlCol="0" anchor="t"/>
          <a:lstStyle/>
          <a:p>
            <a:pPr indent="0" marL="0">
              <a:buNone/>
            </a:pPr>
            <a:r>
              <a:rPr lang="en-US" sz="1050" dirty="0">
                <a:solidFill>
                  <a:srgbClr val="1A1A1A"/>
                </a:solidFill>
                <a:latin typeface="Segoe UI" pitchFamily="34" charset="0"/>
                <a:ea typeface="Segoe UI" pitchFamily="34" charset="-122"/>
                <a:cs typeface="Segoe UI" pitchFamily="34" charset="-120"/>
              </a:rPr>
              <a:t>Lines of production code</a:t>
            </a:r>
            <a:endParaRPr lang="en-US" sz="1050" dirty="0"/>
          </a:p>
        </p:txBody>
      </p:sp>
      <p:sp>
        <p:nvSpPr>
          <p:cNvPr id="12" name="Shape 10"/>
          <p:cNvSpPr/>
          <p:nvPr/>
        </p:nvSpPr>
        <p:spPr>
          <a:xfrm>
            <a:off x="3163824" y="1572768"/>
            <a:ext cx="2670048" cy="1298448"/>
          </a:xfrm>
          <a:prstGeom prst="roundRect">
            <a:avLst>
              <a:gd name="adj" fmla="val 4225"/>
            </a:avLst>
          </a:prstGeom>
          <a:solidFill>
            <a:srgbClr val="F2F5FA"/>
          </a:solidFill>
          <a:ln w="6350">
            <a:solidFill>
              <a:srgbClr val="C9D2DD"/>
            </a:solidFill>
            <a:prstDash val="solid"/>
          </a:ln>
        </p:spPr>
      </p:sp>
      <p:sp>
        <p:nvSpPr>
          <p:cNvPr id="13" name="Text 11"/>
          <p:cNvSpPr/>
          <p:nvPr/>
        </p:nvSpPr>
        <p:spPr>
          <a:xfrm>
            <a:off x="3273552" y="1719072"/>
            <a:ext cx="2450592" cy="502920"/>
          </a:xfrm>
          <a:prstGeom prst="rect">
            <a:avLst/>
          </a:prstGeom>
          <a:noFill/>
          <a:ln/>
        </p:spPr>
        <p:txBody>
          <a:bodyPr wrap="square" rtlCol="0" anchor="ctr"/>
          <a:lstStyle/>
          <a:p>
            <a:pPr indent="0" marL="0">
              <a:buNone/>
            </a:pPr>
            <a:r>
              <a:rPr lang="en-US" sz="2600" b="1" dirty="0">
                <a:solidFill>
                  <a:srgbClr val="1428A0"/>
                </a:solidFill>
                <a:latin typeface="Segoe UI" pitchFamily="34" charset="0"/>
                <a:ea typeface="Segoe UI" pitchFamily="34" charset="-122"/>
                <a:cs typeface="Segoe UI" pitchFamily="34" charset="-120"/>
              </a:rPr>
              <a:t>193</a:t>
            </a:r>
            <a:endParaRPr lang="en-US" sz="2600" dirty="0"/>
          </a:p>
        </p:txBody>
      </p:sp>
      <p:sp>
        <p:nvSpPr>
          <p:cNvPr id="14" name="Text 12"/>
          <p:cNvSpPr/>
          <p:nvPr/>
        </p:nvSpPr>
        <p:spPr>
          <a:xfrm>
            <a:off x="3273552" y="2249424"/>
            <a:ext cx="2450592" cy="502920"/>
          </a:xfrm>
          <a:prstGeom prst="rect">
            <a:avLst/>
          </a:prstGeom>
          <a:noFill/>
          <a:ln/>
        </p:spPr>
        <p:txBody>
          <a:bodyPr wrap="square" rtlCol="0" anchor="t"/>
          <a:lstStyle/>
          <a:p>
            <a:pPr indent="0" marL="0">
              <a:buNone/>
            </a:pPr>
            <a:r>
              <a:rPr lang="en-US" sz="1050" dirty="0">
                <a:solidFill>
                  <a:srgbClr val="1A1A1A"/>
                </a:solidFill>
                <a:latin typeface="Segoe UI" pitchFamily="34" charset="0"/>
                <a:ea typeface="Segoe UI" pitchFamily="34" charset="-122"/>
                <a:cs typeface="Segoe UI" pitchFamily="34" charset="-120"/>
              </a:rPr>
              <a:t>Application modules in the codebase</a:t>
            </a:r>
            <a:endParaRPr lang="en-US" sz="1050" dirty="0"/>
          </a:p>
        </p:txBody>
      </p:sp>
      <p:sp>
        <p:nvSpPr>
          <p:cNvPr id="15" name="Shape 13"/>
          <p:cNvSpPr/>
          <p:nvPr/>
        </p:nvSpPr>
        <p:spPr>
          <a:xfrm>
            <a:off x="5961888" y="1572768"/>
            <a:ext cx="2670048" cy="1298448"/>
          </a:xfrm>
          <a:prstGeom prst="roundRect">
            <a:avLst>
              <a:gd name="adj" fmla="val 4225"/>
            </a:avLst>
          </a:prstGeom>
          <a:solidFill>
            <a:srgbClr val="F2F5FA"/>
          </a:solidFill>
          <a:ln w="6350">
            <a:solidFill>
              <a:srgbClr val="C9D2DD"/>
            </a:solidFill>
            <a:prstDash val="solid"/>
          </a:ln>
        </p:spPr>
      </p:sp>
      <p:sp>
        <p:nvSpPr>
          <p:cNvPr id="16" name="Text 14"/>
          <p:cNvSpPr/>
          <p:nvPr/>
        </p:nvSpPr>
        <p:spPr>
          <a:xfrm>
            <a:off x="6071616" y="1719072"/>
            <a:ext cx="2450592" cy="502920"/>
          </a:xfrm>
          <a:prstGeom prst="rect">
            <a:avLst/>
          </a:prstGeom>
          <a:noFill/>
          <a:ln/>
        </p:spPr>
        <p:txBody>
          <a:bodyPr wrap="square" rtlCol="0" anchor="ctr"/>
          <a:lstStyle/>
          <a:p>
            <a:pPr indent="0" marL="0">
              <a:buNone/>
            </a:pPr>
            <a:r>
              <a:rPr lang="en-US" sz="2600" b="1" dirty="0">
                <a:solidFill>
                  <a:srgbClr val="1428A0"/>
                </a:solidFill>
                <a:latin typeface="Segoe UI" pitchFamily="34" charset="0"/>
                <a:ea typeface="Segoe UI" pitchFamily="34" charset="-122"/>
                <a:cs typeface="Segoe UI" pitchFamily="34" charset="-120"/>
              </a:rPr>
              <a:t>19</a:t>
            </a:r>
            <a:endParaRPr lang="en-US" sz="2600" dirty="0"/>
          </a:p>
        </p:txBody>
      </p:sp>
      <p:sp>
        <p:nvSpPr>
          <p:cNvPr id="17" name="Text 15"/>
          <p:cNvSpPr/>
          <p:nvPr/>
        </p:nvSpPr>
        <p:spPr>
          <a:xfrm>
            <a:off x="6071616" y="2249424"/>
            <a:ext cx="2450592" cy="502920"/>
          </a:xfrm>
          <a:prstGeom prst="rect">
            <a:avLst/>
          </a:prstGeom>
          <a:noFill/>
          <a:ln/>
        </p:spPr>
        <p:txBody>
          <a:bodyPr wrap="square" rtlCol="0" anchor="t"/>
          <a:lstStyle/>
          <a:p>
            <a:pPr indent="0" marL="0">
              <a:buNone/>
            </a:pPr>
            <a:r>
              <a:rPr lang="en-US" sz="1050" dirty="0">
                <a:solidFill>
                  <a:srgbClr val="1A1A1A"/>
                </a:solidFill>
                <a:latin typeface="Segoe UI" pitchFamily="34" charset="0"/>
                <a:ea typeface="Segoe UI" pitchFamily="34" charset="-122"/>
                <a:cs typeface="Segoe UI" pitchFamily="34" charset="-120"/>
              </a:rPr>
              <a:t>Secured server-side API endpoints</a:t>
            </a:r>
            <a:endParaRPr lang="en-US" sz="1050" dirty="0"/>
          </a:p>
        </p:txBody>
      </p:sp>
      <p:sp>
        <p:nvSpPr>
          <p:cNvPr id="18" name="Shape 16"/>
          <p:cNvSpPr/>
          <p:nvPr/>
        </p:nvSpPr>
        <p:spPr>
          <a:xfrm>
            <a:off x="365760" y="3035808"/>
            <a:ext cx="2670048" cy="1298448"/>
          </a:xfrm>
          <a:prstGeom prst="roundRect">
            <a:avLst>
              <a:gd name="adj" fmla="val 4225"/>
            </a:avLst>
          </a:prstGeom>
          <a:solidFill>
            <a:srgbClr val="F2F5FA"/>
          </a:solidFill>
          <a:ln w="6350">
            <a:solidFill>
              <a:srgbClr val="C9D2DD"/>
            </a:solidFill>
            <a:prstDash val="solid"/>
          </a:ln>
        </p:spPr>
      </p:sp>
      <p:sp>
        <p:nvSpPr>
          <p:cNvPr id="19" name="Text 17"/>
          <p:cNvSpPr/>
          <p:nvPr/>
        </p:nvSpPr>
        <p:spPr>
          <a:xfrm>
            <a:off x="475488" y="3182112"/>
            <a:ext cx="2450592" cy="502920"/>
          </a:xfrm>
          <a:prstGeom prst="rect">
            <a:avLst/>
          </a:prstGeom>
          <a:noFill/>
          <a:ln/>
        </p:spPr>
        <p:txBody>
          <a:bodyPr wrap="square" rtlCol="0" anchor="ctr"/>
          <a:lstStyle/>
          <a:p>
            <a:pPr indent="0" marL="0">
              <a:buNone/>
            </a:pPr>
            <a:r>
              <a:rPr lang="en-US" sz="2600" b="1" dirty="0">
                <a:solidFill>
                  <a:srgbClr val="1428A0"/>
                </a:solidFill>
                <a:latin typeface="Segoe UI" pitchFamily="34" charset="0"/>
                <a:ea typeface="Segoe UI" pitchFamily="34" charset="-122"/>
                <a:cs typeface="Segoe UI" pitchFamily="34" charset="-120"/>
              </a:rPr>
              <a:t>41</a:t>
            </a:r>
            <a:endParaRPr lang="en-US" sz="2600" dirty="0"/>
          </a:p>
        </p:txBody>
      </p:sp>
      <p:sp>
        <p:nvSpPr>
          <p:cNvPr id="20" name="Text 18"/>
          <p:cNvSpPr/>
          <p:nvPr/>
        </p:nvSpPr>
        <p:spPr>
          <a:xfrm>
            <a:off x="475488" y="3712464"/>
            <a:ext cx="2450592" cy="502920"/>
          </a:xfrm>
          <a:prstGeom prst="rect">
            <a:avLst/>
          </a:prstGeom>
          <a:noFill/>
          <a:ln/>
        </p:spPr>
        <p:txBody>
          <a:bodyPr wrap="square" rtlCol="0" anchor="t"/>
          <a:lstStyle/>
          <a:p>
            <a:pPr indent="0" marL="0">
              <a:buNone/>
            </a:pPr>
            <a:r>
              <a:rPr lang="en-US" sz="1050" dirty="0">
                <a:solidFill>
                  <a:srgbClr val="1A1A1A"/>
                </a:solidFill>
                <a:latin typeface="Segoe UI" pitchFamily="34" charset="0"/>
                <a:ea typeface="Segoe UI" pitchFamily="34" charset="-122"/>
                <a:cs typeface="Segoe UI" pitchFamily="34" charset="-120"/>
              </a:rPr>
              <a:t>Dedicated user interface components</a:t>
            </a:r>
            <a:endParaRPr lang="en-US" sz="1050" dirty="0"/>
          </a:p>
        </p:txBody>
      </p:sp>
      <p:sp>
        <p:nvSpPr>
          <p:cNvPr id="21" name="Shape 19"/>
          <p:cNvSpPr/>
          <p:nvPr/>
        </p:nvSpPr>
        <p:spPr>
          <a:xfrm>
            <a:off x="3163824" y="3035808"/>
            <a:ext cx="2670048" cy="1298448"/>
          </a:xfrm>
          <a:prstGeom prst="roundRect">
            <a:avLst>
              <a:gd name="adj" fmla="val 4225"/>
            </a:avLst>
          </a:prstGeom>
          <a:solidFill>
            <a:srgbClr val="F2F5FA"/>
          </a:solidFill>
          <a:ln w="6350">
            <a:solidFill>
              <a:srgbClr val="C9D2DD"/>
            </a:solidFill>
            <a:prstDash val="solid"/>
          </a:ln>
        </p:spPr>
      </p:sp>
      <p:sp>
        <p:nvSpPr>
          <p:cNvPr id="22" name="Text 20"/>
          <p:cNvSpPr/>
          <p:nvPr/>
        </p:nvSpPr>
        <p:spPr>
          <a:xfrm>
            <a:off x="3273552" y="3182112"/>
            <a:ext cx="2450592" cy="502920"/>
          </a:xfrm>
          <a:prstGeom prst="rect">
            <a:avLst/>
          </a:prstGeom>
          <a:noFill/>
          <a:ln/>
        </p:spPr>
        <p:txBody>
          <a:bodyPr wrap="square" rtlCol="0" anchor="ctr"/>
          <a:lstStyle/>
          <a:p>
            <a:pPr indent="0" marL="0">
              <a:buNone/>
            </a:pPr>
            <a:r>
              <a:rPr lang="en-US" sz="2600" b="1" dirty="0">
                <a:solidFill>
                  <a:srgbClr val="1428A0"/>
                </a:solidFill>
                <a:latin typeface="Segoe UI" pitchFamily="34" charset="0"/>
                <a:ea typeface="Segoe UI" pitchFamily="34" charset="-122"/>
                <a:cs typeface="Segoe UI" pitchFamily="34" charset="-120"/>
              </a:rPr>
              <a:t>160</a:t>
            </a:r>
            <a:endParaRPr lang="en-US" sz="2600" dirty="0"/>
          </a:p>
        </p:txBody>
      </p:sp>
      <p:sp>
        <p:nvSpPr>
          <p:cNvPr id="23" name="Text 21"/>
          <p:cNvSpPr/>
          <p:nvPr/>
        </p:nvSpPr>
        <p:spPr>
          <a:xfrm>
            <a:off x="3273552" y="3712464"/>
            <a:ext cx="2450592" cy="502920"/>
          </a:xfrm>
          <a:prstGeom prst="rect">
            <a:avLst/>
          </a:prstGeom>
          <a:noFill/>
          <a:ln/>
        </p:spPr>
        <p:txBody>
          <a:bodyPr wrap="square" rtlCol="0" anchor="t"/>
          <a:lstStyle/>
          <a:p>
            <a:pPr indent="0" marL="0">
              <a:buNone/>
            </a:pPr>
            <a:r>
              <a:rPr lang="en-US" sz="1050" dirty="0">
                <a:solidFill>
                  <a:srgbClr val="1A1A1A"/>
                </a:solidFill>
                <a:latin typeface="Segoe UI" pitchFamily="34" charset="0"/>
                <a:ea typeface="Segoe UI" pitchFamily="34" charset="-122"/>
                <a:cs typeface="Segoe UI" pitchFamily="34" charset="-120"/>
              </a:rPr>
              <a:t>Controlled, version-tracked releases</a:t>
            </a:r>
            <a:endParaRPr lang="en-US" sz="1050" dirty="0"/>
          </a:p>
        </p:txBody>
      </p:sp>
      <p:sp>
        <p:nvSpPr>
          <p:cNvPr id="24" name="Shape 22"/>
          <p:cNvSpPr/>
          <p:nvPr/>
        </p:nvSpPr>
        <p:spPr>
          <a:xfrm>
            <a:off x="5961888" y="3035808"/>
            <a:ext cx="2670048" cy="1298448"/>
          </a:xfrm>
          <a:prstGeom prst="roundRect">
            <a:avLst>
              <a:gd name="adj" fmla="val 4225"/>
            </a:avLst>
          </a:prstGeom>
          <a:solidFill>
            <a:srgbClr val="F2F5FA"/>
          </a:solidFill>
          <a:ln w="6350">
            <a:solidFill>
              <a:srgbClr val="C9D2DD"/>
            </a:solidFill>
            <a:prstDash val="solid"/>
          </a:ln>
        </p:spPr>
      </p:sp>
      <p:sp>
        <p:nvSpPr>
          <p:cNvPr id="25" name="Text 23"/>
          <p:cNvSpPr/>
          <p:nvPr/>
        </p:nvSpPr>
        <p:spPr>
          <a:xfrm>
            <a:off x="6071616" y="3182112"/>
            <a:ext cx="2450592" cy="502920"/>
          </a:xfrm>
          <a:prstGeom prst="rect">
            <a:avLst/>
          </a:prstGeom>
          <a:noFill/>
          <a:ln/>
        </p:spPr>
        <p:txBody>
          <a:bodyPr wrap="square" rtlCol="0" anchor="ctr"/>
          <a:lstStyle/>
          <a:p>
            <a:pPr indent="0" marL="0">
              <a:buNone/>
            </a:pPr>
            <a:r>
              <a:rPr lang="en-US" sz="2600" b="1" dirty="0">
                <a:solidFill>
                  <a:srgbClr val="1428A0"/>
                </a:solidFill>
                <a:latin typeface="Segoe UI" pitchFamily="34" charset="0"/>
                <a:ea typeface="Segoe UI" pitchFamily="34" charset="-122"/>
                <a:cs typeface="Segoe UI" pitchFamily="34" charset="-120"/>
              </a:rPr>
              <a:t>7 months</a:t>
            </a:r>
            <a:endParaRPr lang="en-US" sz="2600" dirty="0"/>
          </a:p>
        </p:txBody>
      </p:sp>
      <p:sp>
        <p:nvSpPr>
          <p:cNvPr id="26" name="Text 24"/>
          <p:cNvSpPr/>
          <p:nvPr/>
        </p:nvSpPr>
        <p:spPr>
          <a:xfrm>
            <a:off x="6071616" y="3712464"/>
            <a:ext cx="2450592" cy="502920"/>
          </a:xfrm>
          <a:prstGeom prst="rect">
            <a:avLst/>
          </a:prstGeom>
          <a:noFill/>
          <a:ln/>
        </p:spPr>
        <p:txBody>
          <a:bodyPr wrap="square" rtlCol="0" anchor="t"/>
          <a:lstStyle/>
          <a:p>
            <a:pPr indent="0" marL="0">
              <a:buNone/>
            </a:pPr>
            <a:r>
              <a:rPr lang="en-US" sz="1050" dirty="0">
                <a:solidFill>
                  <a:srgbClr val="1A1A1A"/>
                </a:solidFill>
                <a:latin typeface="Segoe UI" pitchFamily="34" charset="0"/>
                <a:ea typeface="Segoe UI" pitchFamily="34" charset="-122"/>
                <a:cs typeface="Segoe UI" pitchFamily="34" charset="-120"/>
              </a:rPr>
              <a:t>Feb 2026 – Sep 2026, continuous delivery</a:t>
            </a:r>
            <a:endParaRPr lang="en-US" sz="1050" dirty="0"/>
          </a:p>
        </p:txBody>
      </p:sp>
      <p:sp>
        <p:nvSpPr>
          <p:cNvPr id="27" name="Text 25"/>
          <p:cNvSpPr/>
          <p:nvPr/>
        </p:nvSpPr>
        <p:spPr>
          <a:xfrm>
            <a:off x="365760" y="4370832"/>
            <a:ext cx="8412480" cy="365760"/>
          </a:xfrm>
          <a:prstGeom prst="rect">
            <a:avLst/>
          </a:prstGeom>
          <a:noFill/>
          <a:ln/>
        </p:spPr>
        <p:txBody>
          <a:bodyPr wrap="square" rtlCol="0" anchor="ctr"/>
          <a:lstStyle/>
          <a:p>
            <a:pPr indent="0" marL="0">
              <a:buNone/>
            </a:pPr>
            <a:r>
              <a:rPr lang="en-US" sz="950" i="1" dirty="0">
                <a:solidFill>
                  <a:srgbClr val="5A6472"/>
                </a:solidFill>
                <a:latin typeface="Segoe UI" pitchFamily="34" charset="0"/>
                <a:ea typeface="Segoe UI" pitchFamily="34" charset="-122"/>
                <a:cs typeface="Segoe UI" pitchFamily="34" charset="-120"/>
              </a:rPr>
              <a:t>Delivered by one business owner supported by approved AI assistants — no external vendor, no licence cost.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1828800"/>
            <a:ext cx="1005840" cy="45720"/>
          </a:xfrm>
          <a:prstGeom prst="rect">
            <a:avLst/>
          </a:prstGeom>
          <a:solidFill>
            <a:srgbClr val="00A9E0"/>
          </a:solidFill>
          <a:ln w="12700">
            <a:solidFill>
              <a:srgbClr val="333333"/>
            </a:solidFill>
            <a:prstDash val="solid"/>
          </a:ln>
        </p:spPr>
      </p:sp>
      <p:sp>
        <p:nvSpPr>
          <p:cNvPr id="3" name="Text 1"/>
          <p:cNvSpPr/>
          <p:nvPr/>
        </p:nvSpPr>
        <p:spPr>
          <a:xfrm>
            <a:off x="640080" y="1207008"/>
            <a:ext cx="2743200" cy="457200"/>
          </a:xfrm>
          <a:prstGeom prst="rect">
            <a:avLst/>
          </a:prstGeom>
          <a:noFill/>
          <a:ln/>
        </p:spPr>
        <p:txBody>
          <a:bodyPr wrap="square" rtlCol="0" anchor="ctr"/>
          <a:lstStyle/>
          <a:p>
            <a:pPr indent="0" marL="0">
              <a:buNone/>
            </a:pPr>
            <a:r>
              <a:rPr lang="en-US" sz="1300" b="1" spc="200" kern="0" dirty="0">
                <a:solidFill>
                  <a:srgbClr val="00A9E0"/>
                </a:solidFill>
                <a:latin typeface="Segoe UI" pitchFamily="34" charset="0"/>
                <a:ea typeface="Segoe UI" pitchFamily="34" charset="-122"/>
                <a:cs typeface="Segoe UI" pitchFamily="34" charset="-120"/>
              </a:rPr>
              <a:t>SECTION 5</a:t>
            </a:r>
            <a:endParaRPr lang="en-US" sz="1300" dirty="0"/>
          </a:p>
        </p:txBody>
      </p:sp>
      <p:sp>
        <p:nvSpPr>
          <p:cNvPr id="4" name="Text 2"/>
          <p:cNvSpPr/>
          <p:nvPr/>
        </p:nvSpPr>
        <p:spPr>
          <a:xfrm>
            <a:off x="640080" y="2011680"/>
            <a:ext cx="7772400" cy="8229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AI and Data</a:t>
            </a:r>
            <a:endParaRPr lang="en-US" sz="3200" dirty="0"/>
          </a:p>
          <a:p>
            <a:pPr indent="0" marL="0">
              <a:buNone/>
            </a:pPr>
            <a:r>
              <a:rPr lang="en-US" sz="3200" b="1" dirty="0">
                <a:solidFill>
                  <a:srgbClr val="FFFFFF"/>
                </a:solidFill>
                <a:latin typeface="Segoe UI" pitchFamily="34" charset="0"/>
                <a:ea typeface="Segoe UI" pitchFamily="34" charset="-122"/>
                <a:cs typeface="Segoe UI" pitchFamily="34" charset="-120"/>
              </a:rPr>
              <a:t>Utilisation Plan</a:t>
            </a:r>
            <a:endParaRPr lang="en-US" sz="3200" dirty="0"/>
          </a:p>
        </p:txBody>
      </p:sp>
      <p:sp>
        <p:nvSpPr>
          <p:cNvPr id="5" name="Text 3"/>
          <p:cNvSpPr/>
          <p:nvPr/>
        </p:nvSpPr>
        <p:spPr>
          <a:xfrm>
            <a:off x="640080" y="2926080"/>
            <a:ext cx="7315200" cy="731520"/>
          </a:xfrm>
          <a:prstGeom prst="rect">
            <a:avLst/>
          </a:prstGeom>
          <a:noFill/>
          <a:ln/>
        </p:spPr>
        <p:txBody>
          <a:bodyPr wrap="square" rtlCol="0" anchor="ctr"/>
          <a:lstStyle/>
          <a:p>
            <a:pPr indent="0" marL="0">
              <a:buNone/>
            </a:pPr>
            <a:r>
              <a:rPr lang="en-US" sz="1300" dirty="0">
                <a:solidFill>
                  <a:srgbClr val="B0BEC5"/>
                </a:solidFill>
                <a:latin typeface="Segoe UI" pitchFamily="34" charset="0"/>
                <a:ea typeface="Segoe UI" pitchFamily="34" charset="-122"/>
                <a:cs typeface="Segoe UI" pitchFamily="34" charset="-120"/>
              </a:rPr>
              <a:t>AI is applied at two clearly separated levels. That separation is the foundation of our data-governance position.</a:t>
            </a:r>
            <a:endParaRPr lang="en-US" sz="1300" dirty="0"/>
          </a:p>
        </p:txBody>
      </p:sp>
      <p:sp>
        <p:nvSpPr>
          <p:cNvPr id="6" name="Text 4"/>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78909C"/>
                </a:solidFill>
                <a:latin typeface="Segoe UI" pitchFamily="34" charset="0"/>
                <a:ea typeface="Segoe UI" pitchFamily="34" charset="-122"/>
                <a:cs typeface="Segoe UI" pitchFamily="34" charset="-120"/>
              </a:rPr>
              <a:t>Confidential — Internal Use Only   |   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22</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5. AI UTILISATION</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Two levels, deliberately separated</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sp>
        <p:nvSpPr>
          <p:cNvPr id="8" name="Shape 6"/>
          <p:cNvSpPr/>
          <p:nvPr/>
        </p:nvSpPr>
        <p:spPr>
          <a:xfrm>
            <a:off x="320040" y="1417320"/>
            <a:ext cx="8503920" cy="1481328"/>
          </a:xfrm>
          <a:prstGeom prst="rect">
            <a:avLst/>
          </a:prstGeom>
          <a:solidFill>
            <a:srgbClr val="F2F5FA"/>
          </a:solidFill>
          <a:ln w="9525">
            <a:solidFill>
              <a:srgbClr val="1428A0"/>
            </a:solidFill>
            <a:prstDash val="solid"/>
          </a:ln>
        </p:spPr>
      </p:sp>
      <p:sp>
        <p:nvSpPr>
          <p:cNvPr id="9" name="Shape 7"/>
          <p:cNvSpPr/>
          <p:nvPr/>
        </p:nvSpPr>
        <p:spPr>
          <a:xfrm>
            <a:off x="320040" y="1417320"/>
            <a:ext cx="68580" cy="1481328"/>
          </a:xfrm>
          <a:prstGeom prst="rect">
            <a:avLst/>
          </a:prstGeom>
          <a:solidFill>
            <a:srgbClr val="1428A0"/>
          </a:solidFill>
          <a:ln w="12700">
            <a:solidFill>
              <a:srgbClr val="333333"/>
            </a:solidFill>
            <a:prstDash val="solid"/>
          </a:ln>
        </p:spPr>
      </p:sp>
      <p:sp>
        <p:nvSpPr>
          <p:cNvPr id="10" name="Text 8"/>
          <p:cNvSpPr/>
          <p:nvPr/>
        </p:nvSpPr>
        <p:spPr>
          <a:xfrm>
            <a:off x="566928" y="1536192"/>
            <a:ext cx="8092440" cy="1243584"/>
          </a:xfrm>
          <a:prstGeom prst="rect">
            <a:avLst/>
          </a:prstGeom>
          <a:noFill/>
          <a:ln/>
        </p:spPr>
        <p:txBody>
          <a:bodyPr wrap="square" rtlCol="0" anchor="ctr"/>
          <a:lstStyle/>
          <a:p>
            <a:pPr indent="0" marL="0">
              <a:buNone/>
            </a:pPr>
            <a:r>
              <a:rPr lang="en-US" sz="1500" b="1" dirty="0">
                <a:solidFill>
                  <a:srgbClr val="0B1F3A"/>
                </a:solidFill>
                <a:latin typeface="Segoe UI" pitchFamily="34" charset="0"/>
                <a:ea typeface="Segoe UI" pitchFamily="34" charset="-122"/>
                <a:cs typeface="Segoe UI" pitchFamily="34" charset="-120"/>
              </a:rPr>
              <a:t>Level 1 — AI as the development engine at build time. Level 2 — deterministic, retrieval-based intelligence at runtime, with external model inference switched off.</a:t>
            </a:r>
            <a:endParaRPr lang="en-US" sz="1500" dirty="0"/>
          </a:p>
        </p:txBody>
      </p:sp>
      <p:sp>
        <p:nvSpPr>
          <p:cNvPr id="11" name="Text 9"/>
          <p:cNvSpPr/>
          <p:nvPr/>
        </p:nvSpPr>
        <p:spPr>
          <a:xfrm>
            <a:off x="502920" y="3127248"/>
            <a:ext cx="8138160" cy="1463040"/>
          </a:xfrm>
          <a:prstGeom prst="rect">
            <a:avLst/>
          </a:prstGeom>
          <a:noFill/>
          <a:ln/>
        </p:spPr>
        <p:txBody>
          <a:bodyPr wrap="square" rtlCol="0" anchor="t"/>
          <a:lstStyle/>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Level 1 is the AX contribution: AI did not add a feature to an existing system — AI made the existence of the system possible.</a:t>
            </a:r>
            <a:endParaRPr lang="en-US" sz="1250" dirty="0"/>
          </a:p>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Level 2 is the governance guarantee: no employee or customer data reaches an external model provider while the application runs.</a:t>
            </a:r>
            <a:endParaRPr lang="en-US" sz="1250" dirty="0"/>
          </a:p>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The separation is enforced in code, not by policy alone — the external inference endpoints are disabled and return a service-unavailable response.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23</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5. AI UTILISATION — LEVEL 1 (BUILD TIME)</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AI as the development engine</a:t>
            </a:r>
            <a:endParaRPr lang="en-US" sz="2400" dirty="0"/>
          </a:p>
        </p:txBody>
      </p:sp>
      <p:sp>
        <p:nvSpPr>
          <p:cNvPr id="7" name="Text 5"/>
          <p:cNvSpPr/>
          <p:nvPr/>
        </p:nvSpPr>
        <p:spPr>
          <a:xfrm>
            <a:off x="320040" y="969264"/>
            <a:ext cx="8412480" cy="310896"/>
          </a:xfrm>
          <a:prstGeom prst="rect">
            <a:avLst/>
          </a:prstGeom>
          <a:noFill/>
          <a:ln/>
        </p:spPr>
        <p:txBody>
          <a:bodyPr wrap="square" rtlCol="0" anchor="ctr"/>
          <a:lstStyle/>
          <a:p>
            <a:pPr indent="0" marL="0">
              <a:buNone/>
            </a:pPr>
            <a:r>
              <a:rPr lang="en-US" sz="1200" i="1" dirty="0">
                <a:solidFill>
                  <a:srgbClr val="5A6472"/>
                </a:solidFill>
                <a:latin typeface="Segoe UI" pitchFamily="34" charset="0"/>
                <a:ea typeface="Segoe UI" pitchFamily="34" charset="-122"/>
                <a:cs typeface="Segoe UI" pitchFamily="34" charset="-120"/>
              </a:rPr>
              <a:t>Approved tooling only. No unapproved AI platform and no external development contractor were used.</a:t>
            </a:r>
            <a:endParaRPr lang="en-US" sz="1200" dirty="0"/>
          </a:p>
        </p:txBody>
      </p:sp>
      <p:sp>
        <p:nvSpPr>
          <p:cNvPr id="8" name="Shape 6"/>
          <p:cNvSpPr/>
          <p:nvPr/>
        </p:nvSpPr>
        <p:spPr>
          <a:xfrm>
            <a:off x="320040" y="1316736"/>
            <a:ext cx="822960" cy="41148"/>
          </a:xfrm>
          <a:prstGeom prst="rect">
            <a:avLst/>
          </a:prstGeom>
          <a:solidFill>
            <a:srgbClr val="00A9E0"/>
          </a:solidFill>
          <a:ln w="12700">
            <a:solidFill>
              <a:srgbClr val="333333"/>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517904"/>
          <a:ext cx="8503920" cy="914400"/>
        </p:xfrm>
        <a:graphic>
          <a:graphicData uri="http://schemas.openxmlformats.org/drawingml/2006/table">
            <a:tbl>
              <a:tblPr/>
              <a:tblGrid>
                <a:gridCol w="1371600"/>
                <a:gridCol w="4297680"/>
                <a:gridCol w="2834640"/>
              </a:tblGrid>
              <a:tr h="0">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Approved tool</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Applied to</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Effect</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Claude</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Primary application development: architecture, module implementation, refactoring, defect diagnosis, security review of data-access rules.</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Bulk of the production codebase; sustained delivery velocity across seven months.</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ChatGPT</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Solution design exploration, algorithm formulation for scoring and ranking, documentation drafting.</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Faster design convergence; reduced rework.</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Gemini</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Knowledge-base content structuring, bilingual English/Arabic phrasing review, question-bank drafting.</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Segoe UI" pitchFamily="34" charset="0"/>
                          <a:ea typeface="Segoe UI" pitchFamily="34" charset="-122"/>
                          <a:cs typeface="Segoe UI" pitchFamily="34" charset="-120"/>
                        </a:rPr>
                        <a:t>Consistent bilingual quality with no external translation cost.</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bl>
          </a:graphicData>
        </a:graphic>
      </p:graphicFrame>
      <p:sp>
        <p:nvSpPr>
          <p:cNvPr id="10" name="Text 7"/>
          <p:cNvSpPr/>
          <p:nvPr/>
        </p:nvSpPr>
        <p:spPr>
          <a:xfrm>
            <a:off x="320040" y="4315968"/>
            <a:ext cx="8503920" cy="365760"/>
          </a:xfrm>
          <a:prstGeom prst="rect">
            <a:avLst/>
          </a:prstGeom>
          <a:noFill/>
          <a:ln/>
        </p:spPr>
        <p:txBody>
          <a:bodyPr wrap="square" rtlCol="0" anchor="ctr"/>
          <a:lstStyle/>
          <a:p>
            <a:pPr indent="0" marL="0">
              <a:buNone/>
            </a:pPr>
            <a:r>
              <a:rPr lang="en-US" sz="900" i="1" dirty="0">
                <a:solidFill>
                  <a:srgbClr val="B32017"/>
                </a:solidFill>
                <a:latin typeface="Segoe UI" pitchFamily="34" charset="0"/>
                <a:ea typeface="Segoe UI" pitchFamily="34" charset="-122"/>
                <a:cs typeface="Segoe UI" pitchFamily="34" charset="-120"/>
              </a:rPr>
              <a:t>All AI-generated code was reviewed and tested by the project owner before release.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24</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5. AI UTILISATION — LEVEL 2 (RUNTIME)</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AI in the running application</a:t>
            </a:r>
            <a:endParaRPr lang="en-US" sz="2400" dirty="0"/>
          </a:p>
        </p:txBody>
      </p:sp>
      <p:sp>
        <p:nvSpPr>
          <p:cNvPr id="7" name="Text 5"/>
          <p:cNvSpPr/>
          <p:nvPr/>
        </p:nvSpPr>
        <p:spPr>
          <a:xfrm>
            <a:off x="320040" y="969264"/>
            <a:ext cx="8412480" cy="310896"/>
          </a:xfrm>
          <a:prstGeom prst="rect">
            <a:avLst/>
          </a:prstGeom>
          <a:noFill/>
          <a:ln/>
        </p:spPr>
        <p:txBody>
          <a:bodyPr wrap="square" rtlCol="0" anchor="ctr"/>
          <a:lstStyle/>
          <a:p>
            <a:pPr indent="0" marL="0">
              <a:buNone/>
            </a:pPr>
            <a:r>
              <a:rPr lang="en-US" sz="1200" i="1" dirty="0">
                <a:solidFill>
                  <a:srgbClr val="5A6472"/>
                </a:solidFill>
                <a:latin typeface="Segoe UI" pitchFamily="34" charset="0"/>
                <a:ea typeface="Segoe UI" pitchFamily="34" charset="-122"/>
                <a:cs typeface="Segoe UI" pitchFamily="34" charset="-120"/>
              </a:rPr>
              <a:t>The in-application assistant operates on deterministic retrieval over a curated internal knowledge base.</a:t>
            </a:r>
            <a:endParaRPr lang="en-US" sz="1200" dirty="0"/>
          </a:p>
        </p:txBody>
      </p:sp>
      <p:sp>
        <p:nvSpPr>
          <p:cNvPr id="8" name="Shape 6"/>
          <p:cNvSpPr/>
          <p:nvPr/>
        </p:nvSpPr>
        <p:spPr>
          <a:xfrm>
            <a:off x="320040" y="1316736"/>
            <a:ext cx="822960" cy="41148"/>
          </a:xfrm>
          <a:prstGeom prst="rect">
            <a:avLst/>
          </a:prstGeom>
          <a:solidFill>
            <a:srgbClr val="00A9E0"/>
          </a:solidFill>
          <a:ln w="12700">
            <a:solidFill>
              <a:srgbClr val="333333"/>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517904"/>
          <a:ext cx="8503920" cy="914400"/>
        </p:xfrm>
        <a:graphic>
          <a:graphicData uri="http://schemas.openxmlformats.org/drawingml/2006/table">
            <a:tbl>
              <a:tblPr/>
              <a:tblGrid>
                <a:gridCol w="1965960"/>
                <a:gridCol w="3977640"/>
                <a:gridCol w="2560320"/>
              </a:tblGrid>
              <a:tr h="0">
                <a:tc>
                  <a:txBody>
                    <a:bodyPr/>
                    <a:lstStyle/>
                    <a:p>
                      <a:pPr indent="0" marL="0">
                        <a:buNone/>
                      </a:pPr>
                      <a:r>
                        <a:rPr lang="en-US" sz="1010" b="1" dirty="0">
                          <a:solidFill>
                            <a:srgbClr val="FFFFFF"/>
                          </a:solidFill>
                          <a:latin typeface="Segoe UI" pitchFamily="34" charset="0"/>
                          <a:ea typeface="Segoe UI" pitchFamily="34" charset="-122"/>
                          <a:cs typeface="Segoe UI" pitchFamily="34" charset="-120"/>
                        </a:rPr>
                        <a:t>Runtime capability</a:t>
                      </a:r>
                      <a:endParaRPr lang="en-US" sz="101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10" b="1" dirty="0">
                          <a:solidFill>
                            <a:srgbClr val="FFFFFF"/>
                          </a:solidFill>
                          <a:latin typeface="Segoe UI" pitchFamily="34" charset="0"/>
                          <a:ea typeface="Segoe UI" pitchFamily="34" charset="-122"/>
                          <a:cs typeface="Segoe UI" pitchFamily="34" charset="-120"/>
                        </a:rPr>
                        <a:t>Implementation</a:t>
                      </a:r>
                      <a:endParaRPr lang="en-US" sz="101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10" b="1" dirty="0">
                          <a:solidFill>
                            <a:srgbClr val="FFFFFF"/>
                          </a:solidFill>
                          <a:latin typeface="Segoe UI" pitchFamily="34" charset="0"/>
                          <a:ea typeface="Segoe UI" pitchFamily="34" charset="-122"/>
                          <a:cs typeface="Segoe UI" pitchFamily="34" charset="-120"/>
                        </a:rPr>
                        <a:t>Data exposure</a:t>
                      </a:r>
                      <a:endParaRPr lang="en-US" sz="101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Knowledge answering</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Deterministic retrieval and ranking over curated internal knowledge and the KPI definition set.</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None — processing stays inside the Samsung-controlled environment.</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Guided conversation</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Predefined intent routing and guided options authored by the business owner.</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None.</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Arabic and English support</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Curated bilingual content with a controlled Egyptian-Arabic phrasing layer.</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None.</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Speech output</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Neural text-to-speech applied to already-approved internal answer text only.</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Answer text only.</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Speech input</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Device-native speech recognition in the browser.</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Handled on the user’s own device.</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External LLM inference</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Deliberately disabled in the running application.</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60" dirty="0">
                          <a:solidFill>
                            <a:srgbClr val="1A1A1A"/>
                          </a:solidFill>
                          <a:latin typeface="Segoe UI" pitchFamily="34" charset="0"/>
                          <a:ea typeface="Segoe UI" pitchFamily="34" charset="-122"/>
                          <a:cs typeface="Segoe UI" pitchFamily="34" charset="-120"/>
                        </a:rPr>
                        <a:t>Zero.</a:t>
                      </a:r>
                      <a:endParaRPr lang="en-US" sz="96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25</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5. AI UTILISATION</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Compliance position</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sp>
        <p:nvSpPr>
          <p:cNvPr id="8" name="Shape 6"/>
          <p:cNvSpPr/>
          <p:nvPr/>
        </p:nvSpPr>
        <p:spPr>
          <a:xfrm>
            <a:off x="320040" y="1417320"/>
            <a:ext cx="8503920" cy="1481328"/>
          </a:xfrm>
          <a:prstGeom prst="rect">
            <a:avLst/>
          </a:prstGeom>
          <a:solidFill>
            <a:srgbClr val="F2F5FA"/>
          </a:solidFill>
          <a:ln w="9525">
            <a:solidFill>
              <a:srgbClr val="1428A0"/>
            </a:solidFill>
            <a:prstDash val="solid"/>
          </a:ln>
        </p:spPr>
      </p:sp>
      <p:sp>
        <p:nvSpPr>
          <p:cNvPr id="9" name="Shape 7"/>
          <p:cNvSpPr/>
          <p:nvPr/>
        </p:nvSpPr>
        <p:spPr>
          <a:xfrm>
            <a:off x="320040" y="1417320"/>
            <a:ext cx="68580" cy="1481328"/>
          </a:xfrm>
          <a:prstGeom prst="rect">
            <a:avLst/>
          </a:prstGeom>
          <a:solidFill>
            <a:srgbClr val="1428A0"/>
          </a:solidFill>
          <a:ln w="12700">
            <a:solidFill>
              <a:srgbClr val="333333"/>
            </a:solidFill>
            <a:prstDash val="solid"/>
          </a:ln>
        </p:spPr>
      </p:sp>
      <p:sp>
        <p:nvSpPr>
          <p:cNvPr id="10" name="Text 8"/>
          <p:cNvSpPr/>
          <p:nvPr/>
        </p:nvSpPr>
        <p:spPr>
          <a:xfrm>
            <a:off x="566928" y="1536192"/>
            <a:ext cx="8092440" cy="1243584"/>
          </a:xfrm>
          <a:prstGeom prst="rect">
            <a:avLst/>
          </a:prstGeom>
          <a:noFill/>
          <a:ln/>
        </p:spPr>
        <p:txBody>
          <a:bodyPr wrap="square" rtlCol="0" anchor="ctr"/>
          <a:lstStyle/>
          <a:p>
            <a:pPr indent="0" marL="0">
              <a:buNone/>
            </a:pPr>
            <a:r>
              <a:rPr lang="en-US" sz="1500" b="1" dirty="0">
                <a:solidFill>
                  <a:srgbClr val="0B1F3A"/>
                </a:solidFill>
                <a:latin typeface="Segoe UI" pitchFamily="34" charset="0"/>
                <a:ea typeface="Segoe UI" pitchFamily="34" charset="-122"/>
                <a:cs typeface="Segoe UI" pitchFamily="34" charset="-120"/>
              </a:rPr>
              <a:t>Employee evaluation data and customer information never leave the Samsung-controlled environment. Runtime answers are drawn exclusively from verified internal content — which also makes every answer auditable and attributable, a property that open generative answering cannot provide.</a:t>
            </a:r>
            <a:endParaRPr lang="en-US" sz="1500" dirty="0"/>
          </a:p>
        </p:txBody>
      </p:sp>
      <p:sp>
        <p:nvSpPr>
          <p:cNvPr id="11" name="Text 9"/>
          <p:cNvSpPr/>
          <p:nvPr/>
        </p:nvSpPr>
        <p:spPr>
          <a:xfrm>
            <a:off x="502920" y="3127248"/>
            <a:ext cx="8138160" cy="1463040"/>
          </a:xfrm>
          <a:prstGeom prst="rect">
            <a:avLst/>
          </a:prstGeom>
          <a:noFill/>
          <a:ln/>
        </p:spPr>
        <p:txBody>
          <a:bodyPr wrap="square" rtlCol="0" anchor="t"/>
          <a:lstStyle/>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Approved AI tooling was confined to the development process, where no production data is present.</a:t>
            </a:r>
            <a:endParaRPr lang="en-US" sz="1250" dirty="0"/>
          </a:p>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The application was deployed on the internal Samsung network for pilot operation.</a:t>
            </a:r>
            <a:endParaRPr lang="en-US" sz="1250" dirty="0"/>
          </a:p>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Auditability is a functional benefit, not only a control: an incorrect answer can be traced to a specific knowledge item and corrected at source.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26</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5. DATA UTILISATION</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Data utilisation model</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2103120"/>
                <a:gridCol w="3291840"/>
                <a:gridCol w="3108960"/>
              </a:tblGrid>
              <a:tr h="0">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Data domain</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Purpose</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Access control</a:t>
                      </a:r>
                      <a:endParaRPr lang="en-US" sz="10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Engineer evaluation results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Individual disclosure to the engineer; ranking; management reporting.</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Engineer sees own record only; administrators by division and role.</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Service KPI components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KPI-level diagnosis and gap identification.</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As evaluation results.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Quality audit (PQA) records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Partner and service-centre quality scoring.</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Administrative access only.</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Knowledge base content</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Technical enablement of engineers and front-desk staff.</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Read for authenticated staff; publication restricted to editors and above.</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Competency quiz results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Measurement of knowledge retention and training effectiveness.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Scored server-side; results visible to administrators.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Survey and feedback responses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Training quality improvement; internal voice of the customer.</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Aggregated analytics for administrators.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Usage analytics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Adoption measurement and engagement funnel analysis.</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Segoe UI" pitchFamily="34" charset="0"/>
                          <a:ea typeface="Segoe UI" pitchFamily="34" charset="-122"/>
                          <a:cs typeface="Segoe UI" pitchFamily="34" charset="-120"/>
                        </a:rPr>
                        <a:t>Administrative reporting only.</a:t>
                      </a:r>
                      <a:endParaRPr lang="en-US" sz="9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27</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5. DATA UTILISATION</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Security and access governance</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sp>
        <p:nvSpPr>
          <p:cNvPr id="8" name="Text 6"/>
          <p:cNvSpPr/>
          <p:nvPr/>
        </p:nvSpPr>
        <p:spPr>
          <a:xfrm>
            <a:off x="502920" y="1243584"/>
            <a:ext cx="8138160" cy="3017520"/>
          </a:xfrm>
          <a:prstGeom prst="rect">
            <a:avLst/>
          </a:prstGeom>
          <a:noFill/>
          <a:ln/>
        </p:spPr>
        <p:txBody>
          <a:bodyPr wrap="square" rtlCol="0" anchor="t"/>
          <a:lstStyle/>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Authentication enforced through Samsung Firebase Authentication for staff and administrators; legacy password mechanisms removed.</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Server-side authorisation validates every privileged request against the caller’s verified identity and role before execution.</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Database access follows a deny-by-default model with explicit per-domain grants; remaining migration-era exceptions from the authentication cutover are tracked for closure under Phase 1.</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Score-bearing operations in SCORA Challenge are computed server-side only, so client tampering cannot alter results.</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Rate limiting applied to privileged endpoints to prevent abuse.</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Every administrative action is written to an immutable audit log that cannot be modified from the client.</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No credential, service key or secret is exposed to the browser; server-only secrets are held outside the client bundle.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28</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5. FORWARD PLAN</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AI and data forward plan</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1691640"/>
                <a:gridCol w="3977640"/>
                <a:gridCol w="2834640"/>
              </a:tblGrid>
              <a:tr h="0">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Horizon</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Planned action</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980" b="1" dirty="0">
                          <a:solidFill>
                            <a:srgbClr val="FFFFFF"/>
                          </a:solidFill>
                          <a:latin typeface="Segoe UI" pitchFamily="34" charset="0"/>
                          <a:ea typeface="Segoe UI" pitchFamily="34" charset="-122"/>
                          <a:cs typeface="Segoe UI" pitchFamily="34" charset="-120"/>
                        </a:rPr>
                        <a:t>Expected outcome</a:t>
                      </a:r>
                      <a:endParaRPr lang="en-US" sz="98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Phase 1</a:t>
                      </a:r>
                      <a:endParaRPr lang="en-US" sz="930" dirty="0">
                        <a:latin typeface="Segoe UI" charset="0"/>
                        <a:ea typeface="Segoe UI" charset="0"/>
                        <a:cs typeface="Segoe UI" charset="0"/>
                      </a:endParaRPr>
                    </a:p>
                    <a:p>
                      <a:pPr indent="0" marL="0">
                        <a:buNone/>
                      </a:pPr>
                      <a:r>
                        <a:rPr lang="en-US" sz="930" dirty="0">
                          <a:solidFill>
                            <a:srgbClr val="1A1A1A"/>
                          </a:solidFill>
                          <a:latin typeface="Segoe UI" pitchFamily="34" charset="0"/>
                          <a:ea typeface="Segoe UI" pitchFamily="34" charset="-122"/>
                          <a:cs typeface="Segoe UI" pitchFamily="34" charset="-120"/>
                        </a:rPr>
                        <a:t>Stabilise and adopt</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Complete rollout to all engineers and front-desk staff; establish the disclosure rhythm; close remaining migration-era database access exceptions.</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Full awareness of individual results on a hardened access model.</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Phase 2</a:t>
                      </a:r>
                      <a:endParaRPr lang="en-US" sz="930" dirty="0">
                        <a:latin typeface="Segoe UI" charset="0"/>
                        <a:ea typeface="Segoe UI" charset="0"/>
                        <a:cs typeface="Segoe UI" charset="0"/>
                      </a:endParaRPr>
                    </a:p>
                    <a:p>
                      <a:pPr indent="0" marL="0">
                        <a:buNone/>
                      </a:pPr>
                      <a:r>
                        <a:rPr lang="en-US" sz="930" dirty="0">
                          <a:solidFill>
                            <a:srgbClr val="1A1A1A"/>
                          </a:solidFill>
                          <a:latin typeface="Segoe UI" pitchFamily="34" charset="0"/>
                          <a:ea typeface="Segoe UI" pitchFamily="34" charset="-122"/>
                          <a:cs typeface="Segoe UI" pitchFamily="34" charset="-120"/>
                        </a:rPr>
                        <a:t>Measure impact</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Track KPI movement for engineers who consumed corrective knowledge against those who did not.</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Quantified evidence that transparency improves KPIs.</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Phase 3</a:t>
                      </a:r>
                      <a:endParaRPr lang="en-US" sz="930" dirty="0">
                        <a:latin typeface="Segoe UI" charset="0"/>
                        <a:ea typeface="Segoe UI" charset="0"/>
                        <a:cs typeface="Segoe UI" charset="0"/>
                      </a:endParaRPr>
                    </a:p>
                    <a:p>
                      <a:pPr indent="0" marL="0">
                        <a:buNone/>
                      </a:pPr>
                      <a:r>
                        <a:rPr lang="en-US" sz="930" dirty="0">
                          <a:solidFill>
                            <a:srgbClr val="1A1A1A"/>
                          </a:solidFill>
                          <a:latin typeface="Segoe UI" pitchFamily="34" charset="0"/>
                          <a:ea typeface="Segoe UI" pitchFamily="34" charset="-122"/>
                          <a:cs typeface="Segoe UI" pitchFamily="34" charset="-120"/>
                        </a:rPr>
                        <a:t>Predictive capability</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Trend-based early warning to flag engineers at risk of decline before the cycle closes.</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Preventive coaching instead of retrospective correction.</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Phase 4</a:t>
                      </a:r>
                      <a:endParaRPr lang="en-US" sz="930" dirty="0">
                        <a:latin typeface="Segoe UI" charset="0"/>
                        <a:ea typeface="Segoe UI" charset="0"/>
                        <a:cs typeface="Segoe UI" charset="0"/>
                      </a:endParaRPr>
                    </a:p>
                    <a:p>
                      <a:pPr indent="0" marL="0">
                        <a:buNone/>
                      </a:pPr>
                      <a:r>
                        <a:rPr lang="en-US" sz="930" dirty="0">
                          <a:solidFill>
                            <a:srgbClr val="1A1A1A"/>
                          </a:solidFill>
                          <a:latin typeface="Segoe UI" pitchFamily="34" charset="0"/>
                          <a:ea typeface="Segoe UI" pitchFamily="34" charset="-122"/>
                          <a:cs typeface="Segoe UI" pitchFamily="34" charset="-120"/>
                        </a:rPr>
                        <a:t>Approved AI expansion</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Introduce generative answering only via a Samsung-approved, RHQ-sanctioned endpoint, retaining the no-egress principle.</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Broader assistant coverage with governance preserved.</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Phase 5</a:t>
                      </a:r>
                      <a:endParaRPr lang="en-US" sz="930" dirty="0">
                        <a:latin typeface="Segoe UI" charset="0"/>
                        <a:ea typeface="Segoe UI" charset="0"/>
                        <a:cs typeface="Segoe UI" charset="0"/>
                      </a:endParaRPr>
                    </a:p>
                    <a:p>
                      <a:pPr indent="0" marL="0">
                        <a:buNone/>
                      </a:pPr>
                      <a:r>
                        <a:rPr lang="en-US" sz="930" dirty="0">
                          <a:solidFill>
                            <a:srgbClr val="1A1A1A"/>
                          </a:solidFill>
                          <a:latin typeface="Segoe UI" pitchFamily="34" charset="0"/>
                          <a:ea typeface="Segoe UI" pitchFamily="34" charset="-122"/>
                          <a:cs typeface="Segoe UI" pitchFamily="34" charset="-120"/>
                        </a:rPr>
                        <a:t>Regional replication</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Package the platform for other subsidiaries; division and role models are already configuration-driven.</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930" dirty="0">
                          <a:solidFill>
                            <a:srgbClr val="1A1A1A"/>
                          </a:solidFill>
                          <a:latin typeface="Segoe UI" pitchFamily="34" charset="0"/>
                          <a:ea typeface="Segoe UI" pitchFamily="34" charset="-122"/>
                          <a:cs typeface="Segoe UI" pitchFamily="34" charset="-120"/>
                        </a:rPr>
                        <a:t>Reuse of the investment at negligible marginal cost.</a:t>
                      </a:r>
                      <a:endParaRPr lang="en-US" sz="93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1828800"/>
            <a:ext cx="1005840" cy="45720"/>
          </a:xfrm>
          <a:prstGeom prst="rect">
            <a:avLst/>
          </a:prstGeom>
          <a:solidFill>
            <a:srgbClr val="00A9E0"/>
          </a:solidFill>
          <a:ln w="12700">
            <a:solidFill>
              <a:srgbClr val="333333"/>
            </a:solidFill>
            <a:prstDash val="solid"/>
          </a:ln>
        </p:spPr>
      </p:sp>
      <p:sp>
        <p:nvSpPr>
          <p:cNvPr id="3" name="Text 1"/>
          <p:cNvSpPr/>
          <p:nvPr/>
        </p:nvSpPr>
        <p:spPr>
          <a:xfrm>
            <a:off x="640080" y="1207008"/>
            <a:ext cx="2743200" cy="457200"/>
          </a:xfrm>
          <a:prstGeom prst="rect">
            <a:avLst/>
          </a:prstGeom>
          <a:noFill/>
          <a:ln/>
        </p:spPr>
        <p:txBody>
          <a:bodyPr wrap="square" rtlCol="0" anchor="ctr"/>
          <a:lstStyle/>
          <a:p>
            <a:pPr indent="0" marL="0">
              <a:buNone/>
            </a:pPr>
            <a:r>
              <a:rPr lang="en-US" sz="1300" b="1" spc="200" kern="0" dirty="0">
                <a:solidFill>
                  <a:srgbClr val="00A9E0"/>
                </a:solidFill>
                <a:latin typeface="Segoe UI" pitchFamily="34" charset="0"/>
                <a:ea typeface="Segoe UI" pitchFamily="34" charset="-122"/>
                <a:cs typeface="Segoe UI" pitchFamily="34" charset="-120"/>
              </a:rPr>
              <a:t>SECTION 6</a:t>
            </a:r>
            <a:endParaRPr lang="en-US" sz="1300" dirty="0"/>
          </a:p>
        </p:txBody>
      </p:sp>
      <p:sp>
        <p:nvSpPr>
          <p:cNvPr id="4" name="Text 2"/>
          <p:cNvSpPr/>
          <p:nvPr/>
        </p:nvSpPr>
        <p:spPr>
          <a:xfrm>
            <a:off x="640080" y="2011680"/>
            <a:ext cx="7772400" cy="8229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Business Impact and</a:t>
            </a:r>
            <a:endParaRPr lang="en-US" sz="3200" dirty="0"/>
          </a:p>
          <a:p>
            <a:pPr indent="0" marL="0">
              <a:buNone/>
            </a:pPr>
            <a:r>
              <a:rPr lang="en-US" sz="3200" b="1" dirty="0">
                <a:solidFill>
                  <a:srgbClr val="FFFFFF"/>
                </a:solidFill>
                <a:latin typeface="Segoe UI" pitchFamily="34" charset="0"/>
                <a:ea typeface="Segoe UI" pitchFamily="34" charset="-122"/>
                <a:cs typeface="Segoe UI" pitchFamily="34" charset="-120"/>
              </a:rPr>
              <a:t>Return on Investment</a:t>
            </a:r>
            <a:endParaRPr lang="en-US" sz="3200" dirty="0"/>
          </a:p>
        </p:txBody>
      </p:sp>
      <p:sp>
        <p:nvSpPr>
          <p:cNvPr id="5" name="Text 3"/>
          <p:cNvSpPr/>
          <p:nvPr/>
        </p:nvSpPr>
        <p:spPr>
          <a:xfrm>
            <a:off x="640080" y="2926080"/>
            <a:ext cx="7315200" cy="731520"/>
          </a:xfrm>
          <a:prstGeom prst="rect">
            <a:avLst/>
          </a:prstGeom>
          <a:noFill/>
          <a:ln/>
        </p:spPr>
        <p:txBody>
          <a:bodyPr wrap="square" rtlCol="0" anchor="ctr"/>
          <a:lstStyle/>
          <a:p>
            <a:pPr indent="0" marL="0">
              <a:buNone/>
            </a:pPr>
            <a:r>
              <a:rPr lang="en-US" sz="1300" dirty="0">
                <a:solidFill>
                  <a:srgbClr val="B0BEC5"/>
                </a:solidFill>
                <a:latin typeface="Segoe UI" pitchFamily="34" charset="0"/>
                <a:ea typeface="Segoe UI" pitchFamily="34" charset="-122"/>
                <a:cs typeface="Segoe UI" pitchFamily="34" charset="-120"/>
              </a:rPr>
              <a:t>Production-grade scope delivered with no vendor cost, no licence cost and no incremental infrastructure.</a:t>
            </a:r>
            <a:endParaRPr lang="en-US" sz="1300" dirty="0"/>
          </a:p>
        </p:txBody>
      </p:sp>
      <p:sp>
        <p:nvSpPr>
          <p:cNvPr id="6" name="Text 4"/>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78909C"/>
                </a:solidFill>
                <a:latin typeface="Segoe UI" pitchFamily="34" charset="0"/>
                <a:ea typeface="Segoe UI" pitchFamily="34" charset="-122"/>
                <a:cs typeface="Segoe UI" pitchFamily="34" charset="-120"/>
              </a:rPr>
              <a:t>Confidential — Internal Use Only   |   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30</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6. RETURN ON INVESTMENT</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Cost position</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1225296"/>
          <a:ext cx="8503920" cy="914400"/>
        </p:xfrm>
        <a:graphic>
          <a:graphicData uri="http://schemas.openxmlformats.org/drawingml/2006/table">
            <a:tbl>
              <a:tblPr/>
              <a:tblGrid>
                <a:gridCol w="2743200"/>
                <a:gridCol w="2880360"/>
                <a:gridCol w="2880360"/>
              </a:tblGrid>
              <a:tr h="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Cost element</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Conventional delivery</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SCORA (AI-assisted, internal)</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External development vendor</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Required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None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Software licence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Required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None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Additional infrastructure procurement</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Typically required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None — internal network deployment</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Translation / bilingual content service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Typically required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None — produced with approved AI tooling</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Development resource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Multi-person project team</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One business owner with AI assistance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Elapsed delivery time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Conventionally 12–18 months for equivalent scope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7 months</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31</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6. RETURN ON INVESTMENT</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Operational benefits</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sp>
        <p:nvSpPr>
          <p:cNvPr id="8" name="Text 6"/>
          <p:cNvSpPr/>
          <p:nvPr/>
        </p:nvSpPr>
        <p:spPr>
          <a:xfrm>
            <a:off x="502920" y="1243584"/>
            <a:ext cx="8138160" cy="2651760"/>
          </a:xfrm>
          <a:prstGeom prst="rect">
            <a:avLst/>
          </a:prstGeom>
          <a:noFill/>
          <a:ln/>
        </p:spPr>
        <p:txBody>
          <a:bodyPr wrap="square" rtlCol="0" anchor="t"/>
          <a:lstStyle/>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Engineers receive their own results, enabling self-directed improvement for the first time.</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Improvement effort is directed at the specific KPI responsible for the shortfall, rather than applied generally.</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Front-desk and technical knowledge is standardised, reducing inconsistent customer handling and protecting against knowledge loss on staff rotation.</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Manual consolidation and distribution of evaluation results is eliminated as a recurring administrative task.</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Training effectiveness becomes measurable through competency challenge results.</a:t>
            </a:r>
            <a:endParaRPr lang="en-US" sz="1300" dirty="0"/>
          </a:p>
          <a:p>
            <a:pPr marL="228600" indent="-228600">
              <a:spcAft>
                <a:spcPts val="700"/>
              </a:spcAft>
              <a:buSzPct val="100000"/>
              <a:buChar char="•"/>
            </a:pPr>
            <a:r>
              <a:rPr lang="en-US" sz="1300" dirty="0">
                <a:solidFill>
                  <a:srgbClr val="1A1A1A"/>
                </a:solidFill>
                <a:latin typeface="Segoe UI" pitchFamily="34" charset="0"/>
                <a:ea typeface="Segoe UI" pitchFamily="34" charset="-122"/>
                <a:cs typeface="Segoe UI" pitchFamily="34" charset="-120"/>
              </a:rPr>
              <a:t>All administrative activity is auditable, strengthening internal control.</a:t>
            </a:r>
            <a:endParaRPr lang="en-US" sz="1300" dirty="0"/>
          </a:p>
        </p:txBody>
      </p:sp>
      <p:sp>
        <p:nvSpPr>
          <p:cNvPr id="9" name="Text 7"/>
          <p:cNvSpPr/>
          <p:nvPr/>
        </p:nvSpPr>
        <p:spPr>
          <a:xfrm>
            <a:off x="502920" y="4224528"/>
            <a:ext cx="8138160" cy="411480"/>
          </a:xfrm>
          <a:prstGeom prst="rect">
            <a:avLst/>
          </a:prstGeom>
          <a:noFill/>
          <a:ln/>
        </p:spPr>
        <p:txBody>
          <a:bodyPr wrap="square" rtlCol="0" anchor="ctr"/>
          <a:lstStyle/>
          <a:p>
            <a:pPr indent="0" marL="0">
              <a:buNone/>
            </a:pPr>
            <a:r>
              <a:rPr lang="en-US" sz="950" i="1" dirty="0">
                <a:solidFill>
                  <a:srgbClr val="B32017"/>
                </a:solidFill>
                <a:latin typeface="Segoe UI" pitchFamily="34" charset="0"/>
                <a:ea typeface="Segoe UI" pitchFamily="34" charset="-122"/>
                <a:cs typeface="Segoe UI" pitchFamily="34" charset="-120"/>
              </a:rPr>
              <a:t>DATA TO CONFIRM: adoption rate; man-hours saved per cycle; measured KPI movement; knowledge items and readers; sessions delivered.</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32</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6. STRATEGIC VALUE</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Strategic value to RHQ</a:t>
            </a:r>
            <a:endParaRPr lang="en-US" sz="2400" dirty="0"/>
          </a:p>
        </p:txBody>
      </p:sp>
      <p:sp>
        <p:nvSpPr>
          <p:cNvPr id="7" name="Shape 5"/>
          <p:cNvSpPr/>
          <p:nvPr/>
        </p:nvSpPr>
        <p:spPr>
          <a:xfrm>
            <a:off x="320040" y="1024128"/>
            <a:ext cx="822960" cy="41148"/>
          </a:xfrm>
          <a:prstGeom prst="rect">
            <a:avLst/>
          </a:prstGeom>
          <a:solidFill>
            <a:srgbClr val="00A9E0"/>
          </a:solidFill>
          <a:ln w="12700">
            <a:solidFill>
              <a:srgbClr val="333333"/>
            </a:solidFill>
            <a:prstDash val="solid"/>
          </a:ln>
        </p:spPr>
      </p:sp>
      <p:sp>
        <p:nvSpPr>
          <p:cNvPr id="8" name="Shape 6"/>
          <p:cNvSpPr/>
          <p:nvPr/>
        </p:nvSpPr>
        <p:spPr>
          <a:xfrm>
            <a:off x="320040" y="1417320"/>
            <a:ext cx="8503920" cy="1481328"/>
          </a:xfrm>
          <a:prstGeom prst="rect">
            <a:avLst/>
          </a:prstGeom>
          <a:solidFill>
            <a:srgbClr val="F2F5FA"/>
          </a:solidFill>
          <a:ln w="9525">
            <a:solidFill>
              <a:srgbClr val="1428A0"/>
            </a:solidFill>
            <a:prstDash val="solid"/>
          </a:ln>
        </p:spPr>
      </p:sp>
      <p:sp>
        <p:nvSpPr>
          <p:cNvPr id="9" name="Shape 7"/>
          <p:cNvSpPr/>
          <p:nvPr/>
        </p:nvSpPr>
        <p:spPr>
          <a:xfrm>
            <a:off x="320040" y="1417320"/>
            <a:ext cx="68580" cy="1481328"/>
          </a:xfrm>
          <a:prstGeom prst="rect">
            <a:avLst/>
          </a:prstGeom>
          <a:solidFill>
            <a:srgbClr val="1428A0"/>
          </a:solidFill>
          <a:ln w="12700">
            <a:solidFill>
              <a:srgbClr val="333333"/>
            </a:solidFill>
            <a:prstDash val="solid"/>
          </a:ln>
        </p:spPr>
      </p:sp>
      <p:sp>
        <p:nvSpPr>
          <p:cNvPr id="10" name="Text 8"/>
          <p:cNvSpPr/>
          <p:nvPr/>
        </p:nvSpPr>
        <p:spPr>
          <a:xfrm>
            <a:off x="566928" y="1536192"/>
            <a:ext cx="8092440" cy="1243584"/>
          </a:xfrm>
          <a:prstGeom prst="rect">
            <a:avLst/>
          </a:prstGeom>
          <a:noFill/>
          <a:ln/>
        </p:spPr>
        <p:txBody>
          <a:bodyPr wrap="square" rtlCol="0" anchor="ctr"/>
          <a:lstStyle/>
          <a:p>
            <a:pPr indent="0" marL="0">
              <a:buNone/>
            </a:pPr>
            <a:r>
              <a:rPr lang="en-US" sz="1500" b="1" dirty="0">
                <a:solidFill>
                  <a:srgbClr val="0B1F3A"/>
                </a:solidFill>
                <a:latin typeface="Segoe UI" pitchFamily="34" charset="0"/>
                <a:ea typeface="Segoe UI" pitchFamily="34" charset="-122"/>
                <a:cs typeface="Segoe UI" pitchFamily="34" charset="-120"/>
              </a:rPr>
              <a:t>SCORA establishes an internal reference model for compliant AI adoption: approved AI tooling delivering a production-grade system, with zero data-governance exposure and zero incremental cost. This is repeatable, not a one-off.</a:t>
            </a:r>
            <a:endParaRPr lang="en-US" sz="1500" dirty="0"/>
          </a:p>
        </p:txBody>
      </p:sp>
      <p:sp>
        <p:nvSpPr>
          <p:cNvPr id="11" name="Text 9"/>
          <p:cNvSpPr/>
          <p:nvPr/>
        </p:nvSpPr>
        <p:spPr>
          <a:xfrm>
            <a:off x="502920" y="3127248"/>
            <a:ext cx="8138160" cy="1463040"/>
          </a:xfrm>
          <a:prstGeom prst="rect">
            <a:avLst/>
          </a:prstGeom>
          <a:noFill/>
          <a:ln/>
        </p:spPr>
        <p:txBody>
          <a:bodyPr wrap="square" rtlCol="0" anchor="t"/>
          <a:lstStyle/>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Provides a transferable capability-management platform for other subsidiaries at negligible marginal cost.</a:t>
            </a:r>
            <a:endParaRPr lang="en-US" sz="1250" dirty="0"/>
          </a:p>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Converts an existing evaluation dataset from a reporting artefact into an operational improvement asset.</a:t>
            </a:r>
            <a:endParaRPr lang="en-US" sz="1250" dirty="0"/>
          </a:p>
          <a:p>
            <a:pPr marL="228600" indent="-228600">
              <a:spcAft>
                <a:spcPts val="700"/>
              </a:spcAft>
              <a:buSzPct val="100000"/>
              <a:buChar char="•"/>
            </a:pPr>
            <a:r>
              <a:rPr lang="en-US" sz="1250" dirty="0">
                <a:solidFill>
                  <a:srgbClr val="1A1A1A"/>
                </a:solidFill>
                <a:latin typeface="Segoe UI" pitchFamily="34" charset="0"/>
                <a:ea typeface="Segoe UI" pitchFamily="34" charset="-122"/>
                <a:cs typeface="Segoe UI" pitchFamily="34" charset="-120"/>
              </a:rPr>
              <a:t>Demonstrates that business owners, equipped with approved AI tooling, can deliver systems previously requiring vendor engagement.</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82296" cy="5148072"/>
          </a:xfrm>
          <a:prstGeom prst="rect">
            <a:avLst/>
          </a:prstGeom>
          <a:solidFill>
            <a:srgbClr val="1428A0"/>
          </a:solidFill>
          <a:ln w="12700">
            <a:solidFill>
              <a:srgbClr val="333333"/>
            </a:solidFill>
            <a:prstDash val="solid"/>
          </a:ln>
        </p:spPr>
      </p:sp>
      <p:sp>
        <p:nvSpPr>
          <p:cNvPr id="3" name="Text 1"/>
          <p:cNvSpPr/>
          <p:nvPr/>
        </p:nvSpPr>
        <p:spPr>
          <a:xfrm>
            <a:off x="292608" y="4754880"/>
            <a:ext cx="5669280" cy="274320"/>
          </a:xfrm>
          <a:prstGeom prst="rect">
            <a:avLst/>
          </a:prstGeom>
          <a:noFill/>
          <a:ln/>
        </p:spPr>
        <p:txBody>
          <a:bodyPr wrap="square" rtlCol="0" anchor="ctr"/>
          <a:lstStyle/>
          <a:p>
            <a:pPr indent="0" marL="0">
              <a:buNone/>
            </a:pPr>
            <a:r>
              <a:rPr lang="en-US" sz="800" dirty="0">
                <a:solidFill>
                  <a:srgbClr val="5A6472"/>
                </a:solidFill>
                <a:latin typeface="Segoe UI" pitchFamily="34" charset="0"/>
                <a:ea typeface="Segoe UI" pitchFamily="34" charset="-122"/>
                <a:cs typeface="Segoe UI" pitchFamily="34" charset="-120"/>
              </a:rPr>
              <a:t>SAMSUNG  ·  SCORA  ·  AX AWARD SUBMISSION</a:t>
            </a:r>
            <a:endParaRPr lang="en-US" sz="800" dirty="0"/>
          </a:p>
        </p:txBody>
      </p:sp>
      <p:sp>
        <p:nvSpPr>
          <p:cNvPr id="4" name="Text 2"/>
          <p:cNvSpPr/>
          <p:nvPr/>
        </p:nvSpPr>
        <p:spPr>
          <a:xfrm>
            <a:off x="6400800" y="4754880"/>
            <a:ext cx="2468880" cy="274320"/>
          </a:xfrm>
          <a:prstGeom prst="rect">
            <a:avLst/>
          </a:prstGeom>
          <a:noFill/>
          <a:ln/>
        </p:spPr>
        <p:txBody>
          <a:bodyPr wrap="square" rtlCol="0" anchor="ctr"/>
          <a:lstStyle/>
          <a:p>
            <a:pPr algn="r" indent="0" marL="0">
              <a:buNone/>
            </a:pPr>
            <a:r>
              <a:rPr lang="en-US" sz="800" dirty="0">
                <a:solidFill>
                  <a:srgbClr val="5A6472"/>
                </a:solidFill>
                <a:latin typeface="Segoe UI" pitchFamily="34" charset="0"/>
                <a:ea typeface="Segoe UI" pitchFamily="34" charset="-122"/>
                <a:cs typeface="Segoe UI" pitchFamily="34" charset="-120"/>
              </a:rPr>
              <a:t>Confidential — Internal Use Only   |   33</a:t>
            </a:r>
            <a:endParaRPr lang="en-US" sz="800" dirty="0"/>
          </a:p>
        </p:txBody>
      </p:sp>
      <p:sp>
        <p:nvSpPr>
          <p:cNvPr id="5" name="Text 3"/>
          <p:cNvSpPr/>
          <p:nvPr/>
        </p:nvSpPr>
        <p:spPr>
          <a:xfrm>
            <a:off x="320040" y="237744"/>
            <a:ext cx="8138160" cy="256032"/>
          </a:xfrm>
          <a:prstGeom prst="rect">
            <a:avLst/>
          </a:prstGeom>
          <a:noFill/>
          <a:ln/>
        </p:spPr>
        <p:txBody>
          <a:bodyPr wrap="square" rtlCol="0" anchor="ctr"/>
          <a:lstStyle/>
          <a:p>
            <a:pPr indent="0" marL="0">
              <a:buNone/>
            </a:pPr>
            <a:r>
              <a:rPr lang="en-US" sz="900" b="1" spc="100" kern="0" dirty="0">
                <a:solidFill>
                  <a:srgbClr val="1428A0"/>
                </a:solidFill>
                <a:latin typeface="Segoe UI" pitchFamily="34" charset="0"/>
                <a:ea typeface="Segoe UI" pitchFamily="34" charset="-122"/>
                <a:cs typeface="Segoe UI" pitchFamily="34" charset="-120"/>
              </a:rPr>
              <a:t>APPENDIX A</a:t>
            </a:r>
            <a:endParaRPr lang="en-US" sz="900" dirty="0"/>
          </a:p>
        </p:txBody>
      </p:sp>
      <p:sp>
        <p:nvSpPr>
          <p:cNvPr id="6" name="Text 4"/>
          <p:cNvSpPr/>
          <p:nvPr/>
        </p:nvSpPr>
        <p:spPr>
          <a:xfrm>
            <a:off x="320040" y="530352"/>
            <a:ext cx="8412480" cy="457200"/>
          </a:xfrm>
          <a:prstGeom prst="rect">
            <a:avLst/>
          </a:prstGeom>
          <a:noFill/>
          <a:ln/>
        </p:spPr>
        <p:txBody>
          <a:bodyPr wrap="square" rtlCol="0" anchor="ctr"/>
          <a:lstStyle/>
          <a:p>
            <a:pPr indent="0" marL="0">
              <a:buNone/>
            </a:pPr>
            <a:r>
              <a:rPr lang="en-US" sz="2400" b="1" dirty="0">
                <a:solidFill>
                  <a:srgbClr val="1A1A1A"/>
                </a:solidFill>
                <a:latin typeface="Segoe UI" pitchFamily="34" charset="0"/>
                <a:ea typeface="Segoe UI" pitchFamily="34" charset="-122"/>
                <a:cs typeface="Segoe UI" pitchFamily="34" charset="-120"/>
              </a:rPr>
              <a:t>Data to confirm before final submission</a:t>
            </a:r>
            <a:endParaRPr lang="en-US" sz="2400" dirty="0"/>
          </a:p>
        </p:txBody>
      </p:sp>
      <p:sp>
        <p:nvSpPr>
          <p:cNvPr id="7" name="Text 5"/>
          <p:cNvSpPr/>
          <p:nvPr/>
        </p:nvSpPr>
        <p:spPr>
          <a:xfrm>
            <a:off x="320040" y="969264"/>
            <a:ext cx="8412480" cy="310896"/>
          </a:xfrm>
          <a:prstGeom prst="rect">
            <a:avLst/>
          </a:prstGeom>
          <a:noFill/>
          <a:ln/>
        </p:spPr>
        <p:txBody>
          <a:bodyPr wrap="square" rtlCol="0" anchor="ctr"/>
          <a:lstStyle/>
          <a:p>
            <a:pPr indent="0" marL="0">
              <a:buNone/>
            </a:pPr>
            <a:r>
              <a:rPr lang="en-US" sz="1200" i="1" dirty="0">
                <a:solidFill>
                  <a:srgbClr val="5A6472"/>
                </a:solidFill>
                <a:latin typeface="Segoe UI" pitchFamily="34" charset="0"/>
                <a:ea typeface="Segoe UI" pitchFamily="34" charset="-122"/>
                <a:cs typeface="Segoe UI" pitchFamily="34" charset="-120"/>
              </a:rPr>
              <a:t>To be supplied by the Customer Service Division. Every other claim in this deck is based on the delivered application.</a:t>
            </a:r>
            <a:endParaRPr lang="en-US" sz="1200" dirty="0"/>
          </a:p>
        </p:txBody>
      </p:sp>
      <p:sp>
        <p:nvSpPr>
          <p:cNvPr id="8" name="Shape 6"/>
          <p:cNvSpPr/>
          <p:nvPr/>
        </p:nvSpPr>
        <p:spPr>
          <a:xfrm>
            <a:off x="320040" y="1316736"/>
            <a:ext cx="822960" cy="41148"/>
          </a:xfrm>
          <a:prstGeom prst="rect">
            <a:avLst/>
          </a:prstGeom>
          <a:solidFill>
            <a:srgbClr val="00A9E0"/>
          </a:solidFill>
          <a:ln w="12700">
            <a:solidFill>
              <a:srgbClr val="333333"/>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20040" y="1517904"/>
          <a:ext cx="8503920" cy="914400"/>
        </p:xfrm>
        <a:graphic>
          <a:graphicData uri="http://schemas.openxmlformats.org/drawingml/2006/table">
            <a:tbl>
              <a:tblPr/>
              <a:tblGrid>
                <a:gridCol w="1005840"/>
                <a:gridCol w="7498080"/>
              </a:tblGrid>
              <a:tr h="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Ref</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Required figure</a:t>
                      </a:r>
                      <a:endParaRPr lang="en-US" sz="110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1428A0"/>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A1</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Project owner: full name, GSPN ID, job title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A2</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Total number of engineers under evaluation</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A3</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Number of service centres and partners covered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A4 / A5</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Working days from cycle close to engineer awareness — before and after</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A6</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Man-hours per cycle for manual consolidation and distribution — before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A7</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Engineer adoption rate since rollout (share accessing own result)</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A8</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Measured movement in target service KPIs since rollout</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A9</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Published knowledge items and monthly active readers</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A10</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Challenge sessions delivered and average score</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A11</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c>
                  <a:txBody>
                    <a:bodyPr/>
                    <a:lstStyle/>
                    <a:p>
                      <a:pPr indent="0" marL="0">
                        <a:buNone/>
                      </a:pPr>
                      <a:r>
                        <a:rPr lang="en-US" sz="1050" dirty="0">
                          <a:solidFill>
                            <a:srgbClr val="1A1A1A"/>
                          </a:solidFill>
                          <a:latin typeface="Segoe UI" pitchFamily="34" charset="0"/>
                          <a:ea typeface="Segoe UI" pitchFamily="34" charset="-122"/>
                          <a:cs typeface="Segoe UI" pitchFamily="34" charset="-120"/>
                        </a:rPr>
                        <a:t>Confirmed deployment scope for the pilot (sites covered)</a:t>
                      </a:r>
                      <a:endParaRPr lang="en-US" sz="1050" dirty="0">
                        <a:latin typeface="Segoe UI" charset="0"/>
                        <a:ea typeface="Segoe UI" charset="0"/>
                        <a:cs typeface="Segoe UI" charset="0"/>
                      </a:endParaRPr>
                    </a:p>
                  </a:txBody>
                  <a:tcPr marL="63500" marR="63500" marT="63500" marB="63500" anchor="ctr">
                    <a:lnL w="6350" cap="flat" cmpd="sng" algn="ctr">
                      <a:solidFill>
                        <a:srgbClr val="C9D2DD"/>
                      </a:solidFill>
                      <a:prstDash val="solid"/>
                      <a:round/>
                      <a:headEnd type="none" w="med" len="med"/>
                      <a:tailEnd type="none" w="med" len="med"/>
                    </a:lnL>
                    <a:lnR w="6350" cap="flat" cmpd="sng" algn="ctr">
                      <a:solidFill>
                        <a:srgbClr val="C9D2DD"/>
                      </a:solidFill>
                      <a:prstDash val="solid"/>
                      <a:round/>
                      <a:headEnd type="none" w="med" len="med"/>
                      <a:tailEnd type="none" w="med" len="med"/>
                    </a:lnR>
                    <a:lnT w="6350" cap="flat" cmpd="sng" algn="ctr">
                      <a:solidFill>
                        <a:srgbClr val="C9D2DD"/>
                      </a:solidFill>
                      <a:prstDash val="solid"/>
                      <a:round/>
                      <a:headEnd type="none" w="med" len="med"/>
                      <a:tailEnd type="none" w="med" len="med"/>
                    </a:lnT>
                    <a:lnB w="6350" cap="flat" cmpd="sng" algn="ctr">
                      <a:solidFill>
                        <a:srgbClr val="C9D2DD"/>
                      </a:solidFill>
                      <a:prstDash val="solid"/>
                      <a:round/>
                      <a:headEnd type="none" w="med" len="med"/>
                      <a:tailEnd type="none" w="med" len="med"/>
                    </a:lnB>
                    <a:solidFill>
                      <a:srgbClr val="F2F5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Samsung Electronics Egypt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SCORA — AX Award Submission (RHQ)</dc:title>
  <dc:subject>AI Transformation (AX) Award Submission</dc:subject>
  <dc:creator>Samsung Electronics Egypt — Customer Service</dc:creator>
  <cp:lastModifiedBy>Samsung Electronics Egypt — Customer Service</cp:lastModifiedBy>
  <cp:revision>1</cp:revision>
  <dcterms:created xsi:type="dcterms:W3CDTF">2026-09-14T18:47:59Z</dcterms:created>
  <dcterms:modified xsi:type="dcterms:W3CDTF">2026-09-14T18:47:59Z</dcterms:modified>
</cp:coreProperties>
</file>